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18288000" cy="10287000"/>
  <p:notesSz cx="6858000" cy="9144000"/>
  <p:embeddedFontLst>
    <p:embeddedFont>
      <p:font typeface="Bebas Neue" panose="020F0502020204030204" pitchFamily="34" charset="0"/>
      <p:regular r:id="rId58"/>
    </p:embeddedFont>
    <p:embeddedFont>
      <p:font typeface="Georgia" panose="02040502050405020303" pitchFamily="18" charset="0"/>
      <p:regular r:id="rId59"/>
      <p:bold r:id="rId60"/>
      <p:italic r:id="rId61"/>
      <p:boldItalic r:id="rId62"/>
    </p:embeddedFont>
    <p:embeddedFont>
      <p:font typeface="Georgia Bold" panose="020B0604020202020204" charset="0"/>
      <p:regular r:id="rId63"/>
    </p:embeddedFont>
    <p:embeddedFont>
      <p:font typeface="Open Sans" panose="020B0606030504020204" pitchFamily="34" charset="0"/>
      <p:regular r:id="rId64"/>
      <p:bold r:id="rId65"/>
      <p:italic r:id="rId66"/>
      <p:boldItalic r:id="rId67"/>
    </p:embeddedFont>
    <p:embeddedFont>
      <p:font typeface="Poppins Light" panose="020B0502040204020203" pitchFamily="2" charset="0"/>
      <p:regular r:id="rId68"/>
    </p:embeddedFont>
    <p:embeddedFont>
      <p:font typeface="Proxima Nova Bold" panose="020B0604020202020204" charset="0"/>
      <p:regular r:id="rId6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6.fntdata"/><Relationship Id="rId68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66" Type="http://schemas.openxmlformats.org/officeDocument/2006/relationships/font" Target="fonts/font9.fntdata"/><Relationship Id="rId5" Type="http://schemas.openxmlformats.org/officeDocument/2006/relationships/slide" Target="slides/slide4.xml"/><Relationship Id="rId61" Type="http://schemas.openxmlformats.org/officeDocument/2006/relationships/font" Target="fonts/font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7.fntdata"/><Relationship Id="rId69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Relationship Id="rId67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5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slides shows all of us connected, splitting all our work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that we have two roles and we will show the features (actions) of each role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that we have two roles and we will show the features (actions) of each role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that we have two roles and we will show the features (actions) of each role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Say that even a waiter complaining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that we have two roles and we will show the features (actions) of each role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that we have two roles and we will show the features (actions) of each role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As we already said, the login service allows for the role separation.</a:t>
            </a:r>
          </a:p>
          <a:p>
            <a:r>
              <a:rPr lang="en-US"/>
              <a:t>Remove some text??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backend was developed using the following tools:</a:t>
            </a:r>
          </a:p>
          <a:p>
            <a:r>
              <a:rPr lang="en-US"/>
              <a:t>explain the role of each tools?</a:t>
            </a:r>
          </a:p>
          <a:p>
            <a:endParaRPr lang="en-US"/>
          </a:p>
          <a:p>
            <a:r>
              <a:rPr lang="en-US"/>
              <a:t>Maven for project build and dependency management;</a:t>
            </a:r>
          </a:p>
          <a:p>
            <a:r>
              <a:rPr lang="en-US"/>
              <a:t>Docker for containerization;</a:t>
            </a:r>
          </a:p>
          <a:p>
            <a:r>
              <a:rPr lang="en-US"/>
              <a:t>IntelliJ IDEA - the development environment;</a:t>
            </a:r>
          </a:p>
          <a:p>
            <a:r>
              <a:rPr lang="en-US"/>
              <a:t>Git for version control;</a:t>
            </a:r>
          </a:p>
          <a:p>
            <a:r>
              <a:rPr lang="en-US"/>
              <a:t>PostgreSQL as the relational database;</a:t>
            </a:r>
          </a:p>
          <a:p>
            <a:r>
              <a:rPr lang="en-US"/>
              <a:t>Apache Tomcat as the web application server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briefly, just that the project follows a standard maven web app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VERY BRIEF, don't go a lot on database.</a:t>
            </a:r>
          </a:p>
          <a:p>
            <a:r>
              <a:rPr lang="en-US"/>
              <a:t>Our 3 .qsl files and what each does.</a:t>
            </a:r>
          </a:p>
          <a:p>
            <a:r>
              <a:rPr lang="en-US"/>
              <a:t>Schema - basic ER schema</a:t>
            </a:r>
          </a:p>
          <a:p>
            <a:r>
              <a:rPr lang="en-US"/>
              <a:t>Population - Putting objects into the schema</a:t>
            </a:r>
          </a:p>
          <a:p>
            <a:r>
              <a:rPr lang="en-US"/>
              <a:t>Trigger for exceptions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SERVICES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VOLUMES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REMEMBER TO SAY .WAR file because of webapp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NETWORK AND PORTS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Expanation of the diagram with jsp and servlets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Expanation of the diagram with jsp and servlets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Expanation of the diagram with jsp and servlets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Expanation of the diagram with jsp and servlets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Expanation of the diagram with jsp and servlets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Expanation of the diagram with jsp and servlets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Expanation of the diagram with jsp and servlets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Expanation of the diagram with jsp and servlets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Expanation of the diagram with jsp and servlets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 this we explain the REST sequence diagram (the change from before slide is important)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that part, not very deep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 this we explain the REST sequence diagram (the change from before slide is important)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Mention the final change in the view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Mention the final change in the view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Mention the final change in the view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Mention the final change in the view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Mention the final change in the view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Mention the final change in the view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Mention the final change in the view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Mention the final change in the view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Talk about base, components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Talk about base, components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Mention the Media Query to achiveve the responsiveness. Say that in this example we put te condition of the max-width.</a:t>
            </a:r>
          </a:p>
          <a:p>
            <a:r>
              <a:rPr lang="en-US"/>
              <a:t>Again say that this will be shown in the Demo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Examples of style of page. Don't go very deep, SAY THAT WE WILL SHOW IT LATER ON THE DEMO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Examples of style of page. Don't go very deep, SAY THAT WE WILL SHOW IT LATER ON THE DEMO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IDEAS to show in the demo:</a:t>
            </a:r>
          </a:p>
          <a:p>
            <a:endParaRPr lang="en-US"/>
          </a:p>
          <a:p>
            <a:r>
              <a:rPr lang="en-US"/>
              <a:t>1) Changing responsiveness !!</a:t>
            </a:r>
          </a:p>
          <a:p>
            <a:endParaRPr lang="en-US"/>
          </a:p>
          <a:p>
            <a:r>
              <a:rPr lang="en-US"/>
              <a:t>2) Show a bad password</a:t>
            </a:r>
          </a:p>
          <a:p>
            <a:r>
              <a:rPr lang="en-US"/>
              <a:t>   or Show trying to sign up as a waiter being a customer</a:t>
            </a:r>
          </a:p>
          <a:p>
            <a:endParaRPr lang="en-US"/>
          </a:p>
          <a:p>
            <a:r>
              <a:rPr lang="en-US"/>
              <a:t>3) List the supplies</a:t>
            </a:r>
          </a:p>
          <a:p>
            <a:endParaRPr lang="en-US"/>
          </a:p>
          <a:p>
            <a:r>
              <a:rPr lang="en-US"/>
              <a:t>4) login as a customer and create a review to show the REST response</a:t>
            </a:r>
          </a:p>
          <a:p>
            <a:endParaRPr lang="en-US"/>
          </a:p>
          <a:p>
            <a:r>
              <a:rPr lang="en-US"/>
              <a:t>5) Go into docker, lounge.Users and show password encoded</a:t>
            </a:r>
          </a:p>
          <a:p>
            <a:endParaRPr lang="en-US"/>
          </a:p>
          <a:p>
            <a:r>
              <a:rPr lang="en-US"/>
              <a:t>6) Show tomcat?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Here you can see the contribution.</a:t>
            </a:r>
          </a:p>
          <a:p>
            <a:r>
              <a:rPr lang="en-US"/>
              <a:t>Mainly say that we did almost the same amount of work and everyone did a part on everything (backend, database, frontend)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Examples of style of page. Don't go very deep, SAY THAT WE WILL SHOW IT LATER ON THE DEMO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21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21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9.svg"/><Relationship Id="rId4" Type="http://schemas.openxmlformats.org/officeDocument/2006/relationships/image" Target="../media/image38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2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svg"/><Relationship Id="rId4" Type="http://schemas.openxmlformats.org/officeDocument/2006/relationships/image" Target="../media/image5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svg"/><Relationship Id="rId4" Type="http://schemas.openxmlformats.org/officeDocument/2006/relationships/image" Target="../media/image6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7.png"/><Relationship Id="rId4" Type="http://schemas.openxmlformats.org/officeDocument/2006/relationships/image" Target="../media/image5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407" b="-6407"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4969945" y="0"/>
            <a:ext cx="8348110" cy="7812828"/>
            <a:chOff x="0" y="0"/>
            <a:chExt cx="2894958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94958" cy="2709333"/>
            </a:xfrm>
            <a:custGeom>
              <a:avLst/>
              <a:gdLst/>
              <a:ahLst/>
              <a:cxnLst/>
              <a:rect l="l" t="t" r="r" b="b"/>
              <a:pathLst>
                <a:path w="2894958" h="2709333">
                  <a:moveTo>
                    <a:pt x="0" y="0"/>
                  </a:moveTo>
                  <a:lnTo>
                    <a:pt x="2894958" y="0"/>
                  </a:lnTo>
                  <a:lnTo>
                    <a:pt x="28949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BEBEB">
                <a:alpha val="71765"/>
              </a:srgbClr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9495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969945" y="0"/>
            <a:ext cx="4558813" cy="1871057"/>
          </a:xfrm>
          <a:custGeom>
            <a:avLst/>
            <a:gdLst/>
            <a:ahLst/>
            <a:cxnLst/>
            <a:rect l="l" t="t" r="r" b="b"/>
            <a:pathLst>
              <a:path w="4558813" h="1871057">
                <a:moveTo>
                  <a:pt x="0" y="0"/>
                </a:moveTo>
                <a:lnTo>
                  <a:pt x="4558814" y="0"/>
                </a:lnTo>
                <a:lnTo>
                  <a:pt x="4558814" y="1871057"/>
                </a:lnTo>
                <a:lnTo>
                  <a:pt x="0" y="18710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7" t="-456" b="-863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9702058" y="-22261"/>
            <a:ext cx="3091858" cy="1893318"/>
          </a:xfrm>
          <a:custGeom>
            <a:avLst/>
            <a:gdLst/>
            <a:ahLst/>
            <a:cxnLst/>
            <a:rect l="l" t="t" r="r" b="b"/>
            <a:pathLst>
              <a:path w="3091858" h="1893318">
                <a:moveTo>
                  <a:pt x="0" y="0"/>
                </a:moveTo>
                <a:lnTo>
                  <a:pt x="3091859" y="0"/>
                </a:lnTo>
                <a:lnTo>
                  <a:pt x="3091859" y="1893318"/>
                </a:lnTo>
                <a:lnTo>
                  <a:pt x="0" y="18933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1238" b="-1123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TextBox 8"/>
          <p:cNvSpPr txBox="1"/>
          <p:nvPr/>
        </p:nvSpPr>
        <p:spPr>
          <a:xfrm>
            <a:off x="5494083" y="2018089"/>
            <a:ext cx="7299834" cy="798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79"/>
              </a:lnSpc>
            </a:pPr>
            <a:r>
              <a:rPr lang="en-US" sz="4556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18086" y="3198761"/>
            <a:ext cx="7575831" cy="461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2"/>
              </a:lnSpc>
            </a:pPr>
            <a:r>
              <a:rPr lang="en-US" sz="2466">
                <a:solidFill>
                  <a:srgbClr val="A42D33"/>
                </a:solidFill>
                <a:latin typeface="Georgia"/>
                <a:ea typeface="Georgia"/>
                <a:cs typeface="Georgia"/>
                <a:sym typeface="Georgia"/>
              </a:rPr>
              <a:t>Master Degree in </a:t>
            </a:r>
          </a:p>
          <a:p>
            <a:pPr algn="ctr">
              <a:lnSpc>
                <a:spcPts val="3452"/>
              </a:lnSpc>
            </a:pPr>
            <a:r>
              <a:rPr lang="en-US" sz="2466">
                <a:solidFill>
                  <a:srgbClr val="A42D33"/>
                </a:solidFill>
                <a:latin typeface="Georgia"/>
                <a:ea typeface="Georgia"/>
                <a:cs typeface="Georgia"/>
                <a:sym typeface="Georgia"/>
              </a:rPr>
              <a:t>ICT for Internet and Multimedia​ </a:t>
            </a:r>
          </a:p>
          <a:p>
            <a:pPr algn="ctr">
              <a:lnSpc>
                <a:spcPts val="3452"/>
              </a:lnSpc>
            </a:pPr>
            <a:endParaRPr lang="en-US" sz="2466">
              <a:solidFill>
                <a:srgbClr val="A42D33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algn="ctr">
              <a:lnSpc>
                <a:spcPts val="3452"/>
              </a:lnSpc>
            </a:pPr>
            <a:r>
              <a:rPr lang="en-US" sz="2466">
                <a:solidFill>
                  <a:srgbClr val="A42D33"/>
                </a:solidFill>
                <a:latin typeface="Georgia"/>
                <a:ea typeface="Georgia"/>
                <a:cs typeface="Georgia"/>
                <a:sym typeface="Georgia"/>
              </a:rPr>
              <a:t>- Homework​ 2 - </a:t>
            </a:r>
          </a:p>
          <a:p>
            <a:pPr algn="ctr">
              <a:lnSpc>
                <a:spcPts val="3296"/>
              </a:lnSpc>
            </a:pPr>
            <a:r>
              <a:rPr lang="en-US" sz="2354">
                <a:solidFill>
                  <a:srgbClr val="A42D33"/>
                </a:solidFill>
                <a:latin typeface="Georgia"/>
                <a:ea typeface="Georgia"/>
                <a:cs typeface="Georgia"/>
                <a:sym typeface="Georgia"/>
              </a:rPr>
              <a:t>Client-side/overall design and </a:t>
            </a:r>
          </a:p>
          <a:p>
            <a:pPr algn="ctr">
              <a:lnSpc>
                <a:spcPts val="3296"/>
              </a:lnSpc>
            </a:pPr>
            <a:r>
              <a:rPr lang="en-US" sz="2354">
                <a:solidFill>
                  <a:srgbClr val="A42D33"/>
                </a:solidFill>
                <a:latin typeface="Georgia"/>
                <a:ea typeface="Georgia"/>
                <a:cs typeface="Georgia"/>
                <a:sym typeface="Georgia"/>
              </a:rPr>
              <a:t>implementation </a:t>
            </a:r>
          </a:p>
          <a:p>
            <a:pPr algn="ctr">
              <a:lnSpc>
                <a:spcPts val="3452"/>
              </a:lnSpc>
            </a:pPr>
            <a:endParaRPr lang="en-US" sz="2354">
              <a:solidFill>
                <a:srgbClr val="A42D33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algn="ctr">
              <a:lnSpc>
                <a:spcPts val="3452"/>
              </a:lnSpc>
            </a:pPr>
            <a:r>
              <a:rPr lang="en-US" sz="2466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Group BAR</a:t>
            </a:r>
          </a:p>
          <a:p>
            <a:pPr algn="ctr">
              <a:lnSpc>
                <a:spcPts val="3452"/>
              </a:lnSpc>
            </a:pPr>
            <a:endParaRPr lang="en-US" sz="2466" b="1">
              <a:solidFill>
                <a:srgbClr val="A42D33"/>
              </a:solidFill>
              <a:latin typeface="Georgia Bold"/>
              <a:ea typeface="Georgia Bold"/>
              <a:cs typeface="Georgia Bold"/>
              <a:sym typeface="Georgia Bold"/>
            </a:endParaRPr>
          </a:p>
          <a:p>
            <a:pPr algn="ctr">
              <a:lnSpc>
                <a:spcPts val="2227"/>
              </a:lnSpc>
            </a:pPr>
            <a:r>
              <a:rPr lang="en-US" sz="1591">
                <a:solidFill>
                  <a:srgbClr val="A42D33"/>
                </a:solidFill>
                <a:latin typeface="Georgia"/>
                <a:ea typeface="Georgia"/>
                <a:cs typeface="Georgia"/>
                <a:sym typeface="Georgia"/>
              </a:rPr>
              <a:t>8th June 2026​</a:t>
            </a:r>
          </a:p>
          <a:p>
            <a:pPr algn="ctr">
              <a:lnSpc>
                <a:spcPts val="3786"/>
              </a:lnSpc>
            </a:pPr>
            <a:endParaRPr lang="en-US" sz="1591">
              <a:solidFill>
                <a:srgbClr val="A42D33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562064" y="9210675"/>
            <a:ext cx="110320" cy="27670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47458" y="3056831"/>
            <a:ext cx="5610902" cy="1497898"/>
            <a:chOff x="0" y="0"/>
            <a:chExt cx="2720393" cy="7262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20393" cy="726242"/>
            </a:xfrm>
            <a:custGeom>
              <a:avLst/>
              <a:gdLst/>
              <a:ahLst/>
              <a:cxnLst/>
              <a:rect l="l" t="t" r="r" b="b"/>
              <a:pathLst>
                <a:path w="2720393" h="726242">
                  <a:moveTo>
                    <a:pt x="70370" y="0"/>
                  </a:moveTo>
                  <a:lnTo>
                    <a:pt x="2650023" y="0"/>
                  </a:lnTo>
                  <a:cubicBezTo>
                    <a:pt x="2668686" y="0"/>
                    <a:pt x="2686585" y="7414"/>
                    <a:pt x="2699782" y="20611"/>
                  </a:cubicBezTo>
                  <a:cubicBezTo>
                    <a:pt x="2712979" y="33808"/>
                    <a:pt x="2720393" y="51707"/>
                    <a:pt x="2720393" y="70370"/>
                  </a:cubicBezTo>
                  <a:lnTo>
                    <a:pt x="2720393" y="655872"/>
                  </a:lnTo>
                  <a:cubicBezTo>
                    <a:pt x="2720393" y="674535"/>
                    <a:pt x="2712979" y="692434"/>
                    <a:pt x="2699782" y="705631"/>
                  </a:cubicBezTo>
                  <a:cubicBezTo>
                    <a:pt x="2686585" y="718828"/>
                    <a:pt x="2668686" y="726242"/>
                    <a:pt x="2650023" y="726242"/>
                  </a:cubicBezTo>
                  <a:lnTo>
                    <a:pt x="70370" y="726242"/>
                  </a:lnTo>
                  <a:cubicBezTo>
                    <a:pt x="51707" y="726242"/>
                    <a:pt x="33808" y="718828"/>
                    <a:pt x="20611" y="705631"/>
                  </a:cubicBezTo>
                  <a:cubicBezTo>
                    <a:pt x="7414" y="692434"/>
                    <a:pt x="0" y="674535"/>
                    <a:pt x="0" y="655872"/>
                  </a:cubicBezTo>
                  <a:lnTo>
                    <a:pt x="0" y="70370"/>
                  </a:lnTo>
                  <a:cubicBezTo>
                    <a:pt x="0" y="51707"/>
                    <a:pt x="7414" y="33808"/>
                    <a:pt x="20611" y="20611"/>
                  </a:cubicBezTo>
                  <a:cubicBezTo>
                    <a:pt x="33808" y="7414"/>
                    <a:pt x="51707" y="0"/>
                    <a:pt x="70370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720393" cy="7929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 b="1">
                  <a:solidFill>
                    <a:srgbClr val="A42D33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Our team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3048147"/>
            <a:ext cx="1385228" cy="1497898"/>
            <a:chOff x="0" y="0"/>
            <a:chExt cx="671615" cy="7262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71615" cy="726242"/>
            </a:xfrm>
            <a:custGeom>
              <a:avLst/>
              <a:gdLst/>
              <a:ahLst/>
              <a:cxnLst/>
              <a:rect l="l" t="t" r="r" b="b"/>
              <a:pathLst>
                <a:path w="671615" h="726242">
                  <a:moveTo>
                    <a:pt x="285035" y="0"/>
                  </a:moveTo>
                  <a:lnTo>
                    <a:pt x="386580" y="0"/>
                  </a:lnTo>
                  <a:cubicBezTo>
                    <a:pt x="462176" y="0"/>
                    <a:pt x="534676" y="30030"/>
                    <a:pt x="588130" y="83485"/>
                  </a:cubicBezTo>
                  <a:cubicBezTo>
                    <a:pt x="641584" y="136939"/>
                    <a:pt x="671615" y="209439"/>
                    <a:pt x="671615" y="285035"/>
                  </a:cubicBezTo>
                  <a:lnTo>
                    <a:pt x="671615" y="441207"/>
                  </a:lnTo>
                  <a:cubicBezTo>
                    <a:pt x="671615" y="598628"/>
                    <a:pt x="544000" y="726242"/>
                    <a:pt x="386580" y="726242"/>
                  </a:cubicBezTo>
                  <a:lnTo>
                    <a:pt x="285035" y="726242"/>
                  </a:lnTo>
                  <a:cubicBezTo>
                    <a:pt x="127614" y="726242"/>
                    <a:pt x="0" y="598628"/>
                    <a:pt x="0" y="441207"/>
                  </a:cubicBezTo>
                  <a:lnTo>
                    <a:pt x="0" y="285035"/>
                  </a:lnTo>
                  <a:cubicBezTo>
                    <a:pt x="0" y="127614"/>
                    <a:pt x="127614" y="0"/>
                    <a:pt x="285035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92176" y="3337991"/>
            <a:ext cx="858276" cy="8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44"/>
              </a:lnSpc>
            </a:pPr>
            <a:r>
              <a:rPr lang="en-US" sz="4888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547458" y="4763438"/>
            <a:ext cx="5610902" cy="1497898"/>
            <a:chOff x="0" y="0"/>
            <a:chExt cx="2720393" cy="72624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20393" cy="726242"/>
            </a:xfrm>
            <a:custGeom>
              <a:avLst/>
              <a:gdLst/>
              <a:ahLst/>
              <a:cxnLst/>
              <a:rect l="l" t="t" r="r" b="b"/>
              <a:pathLst>
                <a:path w="2720393" h="726242">
                  <a:moveTo>
                    <a:pt x="70370" y="0"/>
                  </a:moveTo>
                  <a:lnTo>
                    <a:pt x="2650023" y="0"/>
                  </a:lnTo>
                  <a:cubicBezTo>
                    <a:pt x="2668686" y="0"/>
                    <a:pt x="2686585" y="7414"/>
                    <a:pt x="2699782" y="20611"/>
                  </a:cubicBezTo>
                  <a:cubicBezTo>
                    <a:pt x="2712979" y="33808"/>
                    <a:pt x="2720393" y="51707"/>
                    <a:pt x="2720393" y="70370"/>
                  </a:cubicBezTo>
                  <a:lnTo>
                    <a:pt x="2720393" y="655872"/>
                  </a:lnTo>
                  <a:cubicBezTo>
                    <a:pt x="2720393" y="674535"/>
                    <a:pt x="2712979" y="692434"/>
                    <a:pt x="2699782" y="705631"/>
                  </a:cubicBezTo>
                  <a:cubicBezTo>
                    <a:pt x="2686585" y="718828"/>
                    <a:pt x="2668686" y="726242"/>
                    <a:pt x="2650023" y="726242"/>
                  </a:cubicBezTo>
                  <a:lnTo>
                    <a:pt x="70370" y="726242"/>
                  </a:lnTo>
                  <a:cubicBezTo>
                    <a:pt x="51707" y="726242"/>
                    <a:pt x="33808" y="718828"/>
                    <a:pt x="20611" y="705631"/>
                  </a:cubicBezTo>
                  <a:cubicBezTo>
                    <a:pt x="7414" y="692434"/>
                    <a:pt x="0" y="674535"/>
                    <a:pt x="0" y="655872"/>
                  </a:cubicBezTo>
                  <a:lnTo>
                    <a:pt x="0" y="70370"/>
                  </a:lnTo>
                  <a:cubicBezTo>
                    <a:pt x="0" y="51707"/>
                    <a:pt x="7414" y="33808"/>
                    <a:pt x="20611" y="20611"/>
                  </a:cubicBezTo>
                  <a:cubicBezTo>
                    <a:pt x="33808" y="7414"/>
                    <a:pt x="51707" y="0"/>
                    <a:pt x="70370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2720393" cy="7929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 b="1">
                  <a:solidFill>
                    <a:srgbClr val="A42D33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Main features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4754754"/>
            <a:ext cx="1385228" cy="1497898"/>
            <a:chOff x="0" y="0"/>
            <a:chExt cx="671615" cy="7262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71615" cy="726242"/>
            </a:xfrm>
            <a:custGeom>
              <a:avLst/>
              <a:gdLst/>
              <a:ahLst/>
              <a:cxnLst/>
              <a:rect l="l" t="t" r="r" b="b"/>
              <a:pathLst>
                <a:path w="671615" h="726242">
                  <a:moveTo>
                    <a:pt x="285035" y="0"/>
                  </a:moveTo>
                  <a:lnTo>
                    <a:pt x="386580" y="0"/>
                  </a:lnTo>
                  <a:cubicBezTo>
                    <a:pt x="462176" y="0"/>
                    <a:pt x="534676" y="30030"/>
                    <a:pt x="588130" y="83485"/>
                  </a:cubicBezTo>
                  <a:cubicBezTo>
                    <a:pt x="641584" y="136939"/>
                    <a:pt x="671615" y="209439"/>
                    <a:pt x="671615" y="285035"/>
                  </a:cubicBezTo>
                  <a:lnTo>
                    <a:pt x="671615" y="441207"/>
                  </a:lnTo>
                  <a:cubicBezTo>
                    <a:pt x="671615" y="598628"/>
                    <a:pt x="544000" y="726242"/>
                    <a:pt x="386580" y="726242"/>
                  </a:cubicBezTo>
                  <a:lnTo>
                    <a:pt x="285035" y="726242"/>
                  </a:lnTo>
                  <a:cubicBezTo>
                    <a:pt x="127614" y="726242"/>
                    <a:pt x="0" y="598628"/>
                    <a:pt x="0" y="441207"/>
                  </a:cubicBezTo>
                  <a:lnTo>
                    <a:pt x="0" y="285035"/>
                  </a:lnTo>
                  <a:cubicBezTo>
                    <a:pt x="0" y="127614"/>
                    <a:pt x="127614" y="0"/>
                    <a:pt x="285035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92176" y="5044598"/>
            <a:ext cx="858276" cy="840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44"/>
              </a:lnSpc>
            </a:pPr>
            <a:r>
              <a:rPr lang="en-US" sz="4888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2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2547458" y="6574821"/>
            <a:ext cx="5610902" cy="1497898"/>
            <a:chOff x="0" y="0"/>
            <a:chExt cx="2720393" cy="72624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20393" cy="726242"/>
            </a:xfrm>
            <a:custGeom>
              <a:avLst/>
              <a:gdLst/>
              <a:ahLst/>
              <a:cxnLst/>
              <a:rect l="l" t="t" r="r" b="b"/>
              <a:pathLst>
                <a:path w="2720393" h="726242">
                  <a:moveTo>
                    <a:pt x="70370" y="0"/>
                  </a:moveTo>
                  <a:lnTo>
                    <a:pt x="2650023" y="0"/>
                  </a:lnTo>
                  <a:cubicBezTo>
                    <a:pt x="2668686" y="0"/>
                    <a:pt x="2686585" y="7414"/>
                    <a:pt x="2699782" y="20611"/>
                  </a:cubicBezTo>
                  <a:cubicBezTo>
                    <a:pt x="2712979" y="33808"/>
                    <a:pt x="2720393" y="51707"/>
                    <a:pt x="2720393" y="70370"/>
                  </a:cubicBezTo>
                  <a:lnTo>
                    <a:pt x="2720393" y="655872"/>
                  </a:lnTo>
                  <a:cubicBezTo>
                    <a:pt x="2720393" y="674535"/>
                    <a:pt x="2712979" y="692434"/>
                    <a:pt x="2699782" y="705631"/>
                  </a:cubicBezTo>
                  <a:cubicBezTo>
                    <a:pt x="2686585" y="718828"/>
                    <a:pt x="2668686" y="726242"/>
                    <a:pt x="2650023" y="726242"/>
                  </a:cubicBezTo>
                  <a:lnTo>
                    <a:pt x="70370" y="726242"/>
                  </a:lnTo>
                  <a:cubicBezTo>
                    <a:pt x="51707" y="726242"/>
                    <a:pt x="33808" y="718828"/>
                    <a:pt x="20611" y="705631"/>
                  </a:cubicBezTo>
                  <a:cubicBezTo>
                    <a:pt x="7414" y="692434"/>
                    <a:pt x="0" y="674535"/>
                    <a:pt x="0" y="655872"/>
                  </a:cubicBezTo>
                  <a:lnTo>
                    <a:pt x="0" y="70370"/>
                  </a:lnTo>
                  <a:cubicBezTo>
                    <a:pt x="0" y="51707"/>
                    <a:pt x="7414" y="33808"/>
                    <a:pt x="20611" y="20611"/>
                  </a:cubicBezTo>
                  <a:cubicBezTo>
                    <a:pt x="33808" y="7414"/>
                    <a:pt x="51707" y="0"/>
                    <a:pt x="70370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2720393" cy="7929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 b="1">
                  <a:solidFill>
                    <a:srgbClr val="A42D33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Backend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28700" y="6566137"/>
            <a:ext cx="1385228" cy="1497898"/>
            <a:chOff x="0" y="0"/>
            <a:chExt cx="671615" cy="7262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71615" cy="726242"/>
            </a:xfrm>
            <a:custGeom>
              <a:avLst/>
              <a:gdLst/>
              <a:ahLst/>
              <a:cxnLst/>
              <a:rect l="l" t="t" r="r" b="b"/>
              <a:pathLst>
                <a:path w="671615" h="726242">
                  <a:moveTo>
                    <a:pt x="285035" y="0"/>
                  </a:moveTo>
                  <a:lnTo>
                    <a:pt x="386580" y="0"/>
                  </a:lnTo>
                  <a:cubicBezTo>
                    <a:pt x="462176" y="0"/>
                    <a:pt x="534676" y="30030"/>
                    <a:pt x="588130" y="83485"/>
                  </a:cubicBezTo>
                  <a:cubicBezTo>
                    <a:pt x="641584" y="136939"/>
                    <a:pt x="671615" y="209439"/>
                    <a:pt x="671615" y="285035"/>
                  </a:cubicBezTo>
                  <a:lnTo>
                    <a:pt x="671615" y="441207"/>
                  </a:lnTo>
                  <a:cubicBezTo>
                    <a:pt x="671615" y="598628"/>
                    <a:pt x="544000" y="726242"/>
                    <a:pt x="386580" y="726242"/>
                  </a:cubicBezTo>
                  <a:lnTo>
                    <a:pt x="285035" y="726242"/>
                  </a:lnTo>
                  <a:cubicBezTo>
                    <a:pt x="127614" y="726242"/>
                    <a:pt x="0" y="598628"/>
                    <a:pt x="0" y="441207"/>
                  </a:cubicBezTo>
                  <a:lnTo>
                    <a:pt x="0" y="285035"/>
                  </a:lnTo>
                  <a:cubicBezTo>
                    <a:pt x="0" y="127614"/>
                    <a:pt x="127614" y="0"/>
                    <a:pt x="285035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292176" y="6855981"/>
            <a:ext cx="858276" cy="840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44"/>
              </a:lnSpc>
            </a:pPr>
            <a:r>
              <a:rPr lang="en-US" sz="4888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3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0829988" y="3056831"/>
            <a:ext cx="6429312" cy="1497898"/>
            <a:chOff x="0" y="0"/>
            <a:chExt cx="3117192" cy="72624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17192" cy="726242"/>
            </a:xfrm>
            <a:custGeom>
              <a:avLst/>
              <a:gdLst/>
              <a:ahLst/>
              <a:cxnLst/>
              <a:rect l="l" t="t" r="r" b="b"/>
              <a:pathLst>
                <a:path w="3117192" h="726242">
                  <a:moveTo>
                    <a:pt x="61412" y="0"/>
                  </a:moveTo>
                  <a:lnTo>
                    <a:pt x="3055779" y="0"/>
                  </a:lnTo>
                  <a:cubicBezTo>
                    <a:pt x="3089696" y="0"/>
                    <a:pt x="3117192" y="27495"/>
                    <a:pt x="3117192" y="61412"/>
                  </a:cubicBezTo>
                  <a:lnTo>
                    <a:pt x="3117192" y="664830"/>
                  </a:lnTo>
                  <a:cubicBezTo>
                    <a:pt x="3117192" y="698747"/>
                    <a:pt x="3089696" y="726242"/>
                    <a:pt x="3055779" y="726242"/>
                  </a:cubicBezTo>
                  <a:lnTo>
                    <a:pt x="61412" y="726242"/>
                  </a:lnTo>
                  <a:cubicBezTo>
                    <a:pt x="27495" y="726242"/>
                    <a:pt x="0" y="698747"/>
                    <a:pt x="0" y="664830"/>
                  </a:cubicBezTo>
                  <a:lnTo>
                    <a:pt x="0" y="61412"/>
                  </a:lnTo>
                  <a:cubicBezTo>
                    <a:pt x="0" y="27495"/>
                    <a:pt x="27495" y="0"/>
                    <a:pt x="61412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3117192" cy="7929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 b="1">
                  <a:solidFill>
                    <a:srgbClr val="A42D33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Frontend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311410" y="3056831"/>
            <a:ext cx="1385228" cy="1497898"/>
            <a:chOff x="0" y="0"/>
            <a:chExt cx="671615" cy="72624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71615" cy="726242"/>
            </a:xfrm>
            <a:custGeom>
              <a:avLst/>
              <a:gdLst/>
              <a:ahLst/>
              <a:cxnLst/>
              <a:rect l="l" t="t" r="r" b="b"/>
              <a:pathLst>
                <a:path w="671615" h="726242">
                  <a:moveTo>
                    <a:pt x="285035" y="0"/>
                  </a:moveTo>
                  <a:lnTo>
                    <a:pt x="386580" y="0"/>
                  </a:lnTo>
                  <a:cubicBezTo>
                    <a:pt x="462176" y="0"/>
                    <a:pt x="534676" y="30030"/>
                    <a:pt x="588130" y="83485"/>
                  </a:cubicBezTo>
                  <a:cubicBezTo>
                    <a:pt x="641584" y="136939"/>
                    <a:pt x="671615" y="209439"/>
                    <a:pt x="671615" y="285035"/>
                  </a:cubicBezTo>
                  <a:lnTo>
                    <a:pt x="671615" y="441207"/>
                  </a:lnTo>
                  <a:cubicBezTo>
                    <a:pt x="671615" y="598628"/>
                    <a:pt x="544000" y="726242"/>
                    <a:pt x="386580" y="726242"/>
                  </a:cubicBezTo>
                  <a:lnTo>
                    <a:pt x="285035" y="726242"/>
                  </a:lnTo>
                  <a:cubicBezTo>
                    <a:pt x="127614" y="726242"/>
                    <a:pt x="0" y="598628"/>
                    <a:pt x="0" y="441207"/>
                  </a:cubicBezTo>
                  <a:lnTo>
                    <a:pt x="0" y="285035"/>
                  </a:lnTo>
                  <a:cubicBezTo>
                    <a:pt x="0" y="127614"/>
                    <a:pt x="127614" y="0"/>
                    <a:pt x="285035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9574886" y="3319781"/>
            <a:ext cx="858276" cy="8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44"/>
              </a:lnSpc>
            </a:pPr>
            <a:r>
              <a:rPr lang="en-US" sz="4888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4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0849038" y="4811484"/>
            <a:ext cx="6429312" cy="1497898"/>
            <a:chOff x="0" y="0"/>
            <a:chExt cx="3117192" cy="72624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117192" cy="726242"/>
            </a:xfrm>
            <a:custGeom>
              <a:avLst/>
              <a:gdLst/>
              <a:ahLst/>
              <a:cxnLst/>
              <a:rect l="l" t="t" r="r" b="b"/>
              <a:pathLst>
                <a:path w="3117192" h="726242">
                  <a:moveTo>
                    <a:pt x="61412" y="0"/>
                  </a:moveTo>
                  <a:lnTo>
                    <a:pt x="3055779" y="0"/>
                  </a:lnTo>
                  <a:cubicBezTo>
                    <a:pt x="3089696" y="0"/>
                    <a:pt x="3117192" y="27495"/>
                    <a:pt x="3117192" y="61412"/>
                  </a:cubicBezTo>
                  <a:lnTo>
                    <a:pt x="3117192" y="664830"/>
                  </a:lnTo>
                  <a:cubicBezTo>
                    <a:pt x="3117192" y="698747"/>
                    <a:pt x="3089696" y="726242"/>
                    <a:pt x="3055779" y="726242"/>
                  </a:cubicBezTo>
                  <a:lnTo>
                    <a:pt x="61412" y="726242"/>
                  </a:lnTo>
                  <a:cubicBezTo>
                    <a:pt x="27495" y="726242"/>
                    <a:pt x="0" y="698747"/>
                    <a:pt x="0" y="664830"/>
                  </a:cubicBezTo>
                  <a:lnTo>
                    <a:pt x="0" y="61412"/>
                  </a:lnTo>
                  <a:cubicBezTo>
                    <a:pt x="0" y="27495"/>
                    <a:pt x="27495" y="0"/>
                    <a:pt x="61412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66675"/>
              <a:ext cx="3117192" cy="7929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 b="1">
                  <a:solidFill>
                    <a:srgbClr val="A42D33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Demo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311410" y="4768869"/>
            <a:ext cx="1385228" cy="1497898"/>
            <a:chOff x="0" y="0"/>
            <a:chExt cx="671615" cy="72624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71615" cy="726242"/>
            </a:xfrm>
            <a:custGeom>
              <a:avLst/>
              <a:gdLst/>
              <a:ahLst/>
              <a:cxnLst/>
              <a:rect l="l" t="t" r="r" b="b"/>
              <a:pathLst>
                <a:path w="671615" h="726242">
                  <a:moveTo>
                    <a:pt x="285035" y="0"/>
                  </a:moveTo>
                  <a:lnTo>
                    <a:pt x="386580" y="0"/>
                  </a:lnTo>
                  <a:cubicBezTo>
                    <a:pt x="462176" y="0"/>
                    <a:pt x="534676" y="30030"/>
                    <a:pt x="588130" y="83485"/>
                  </a:cubicBezTo>
                  <a:cubicBezTo>
                    <a:pt x="641584" y="136939"/>
                    <a:pt x="671615" y="209439"/>
                    <a:pt x="671615" y="285035"/>
                  </a:cubicBezTo>
                  <a:lnTo>
                    <a:pt x="671615" y="441207"/>
                  </a:lnTo>
                  <a:cubicBezTo>
                    <a:pt x="671615" y="598628"/>
                    <a:pt x="544000" y="726242"/>
                    <a:pt x="386580" y="726242"/>
                  </a:cubicBezTo>
                  <a:lnTo>
                    <a:pt x="285035" y="726242"/>
                  </a:lnTo>
                  <a:cubicBezTo>
                    <a:pt x="127614" y="726242"/>
                    <a:pt x="0" y="598628"/>
                    <a:pt x="0" y="441207"/>
                  </a:cubicBezTo>
                  <a:lnTo>
                    <a:pt x="0" y="285035"/>
                  </a:lnTo>
                  <a:cubicBezTo>
                    <a:pt x="0" y="127614"/>
                    <a:pt x="127614" y="0"/>
                    <a:pt x="285035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9574886" y="5040504"/>
            <a:ext cx="858276" cy="8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44"/>
              </a:lnSpc>
            </a:pPr>
            <a:r>
              <a:rPr lang="en-US" sz="4888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5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0829988" y="6566137"/>
            <a:ext cx="6429312" cy="1497898"/>
            <a:chOff x="0" y="0"/>
            <a:chExt cx="3117192" cy="72624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117192" cy="726242"/>
            </a:xfrm>
            <a:custGeom>
              <a:avLst/>
              <a:gdLst/>
              <a:ahLst/>
              <a:cxnLst/>
              <a:rect l="l" t="t" r="r" b="b"/>
              <a:pathLst>
                <a:path w="3117192" h="726242">
                  <a:moveTo>
                    <a:pt x="61412" y="0"/>
                  </a:moveTo>
                  <a:lnTo>
                    <a:pt x="3055779" y="0"/>
                  </a:lnTo>
                  <a:cubicBezTo>
                    <a:pt x="3089696" y="0"/>
                    <a:pt x="3117192" y="27495"/>
                    <a:pt x="3117192" y="61412"/>
                  </a:cubicBezTo>
                  <a:lnTo>
                    <a:pt x="3117192" y="664830"/>
                  </a:lnTo>
                  <a:cubicBezTo>
                    <a:pt x="3117192" y="698747"/>
                    <a:pt x="3089696" y="726242"/>
                    <a:pt x="3055779" y="726242"/>
                  </a:cubicBezTo>
                  <a:lnTo>
                    <a:pt x="61412" y="726242"/>
                  </a:lnTo>
                  <a:cubicBezTo>
                    <a:pt x="27495" y="726242"/>
                    <a:pt x="0" y="698747"/>
                    <a:pt x="0" y="664830"/>
                  </a:cubicBezTo>
                  <a:lnTo>
                    <a:pt x="0" y="61412"/>
                  </a:lnTo>
                  <a:cubicBezTo>
                    <a:pt x="0" y="27495"/>
                    <a:pt x="27495" y="0"/>
                    <a:pt x="61412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66675"/>
              <a:ext cx="3117192" cy="7929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 b="1">
                  <a:solidFill>
                    <a:srgbClr val="A42D33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Member contribution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311410" y="6566137"/>
            <a:ext cx="1385228" cy="1497898"/>
            <a:chOff x="0" y="0"/>
            <a:chExt cx="671615" cy="72624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71615" cy="726242"/>
            </a:xfrm>
            <a:custGeom>
              <a:avLst/>
              <a:gdLst/>
              <a:ahLst/>
              <a:cxnLst/>
              <a:rect l="l" t="t" r="r" b="b"/>
              <a:pathLst>
                <a:path w="671615" h="726242">
                  <a:moveTo>
                    <a:pt x="285035" y="0"/>
                  </a:moveTo>
                  <a:lnTo>
                    <a:pt x="386580" y="0"/>
                  </a:lnTo>
                  <a:cubicBezTo>
                    <a:pt x="462176" y="0"/>
                    <a:pt x="534676" y="30030"/>
                    <a:pt x="588130" y="83485"/>
                  </a:cubicBezTo>
                  <a:cubicBezTo>
                    <a:pt x="641584" y="136939"/>
                    <a:pt x="671615" y="209439"/>
                    <a:pt x="671615" y="285035"/>
                  </a:cubicBezTo>
                  <a:lnTo>
                    <a:pt x="671615" y="441207"/>
                  </a:lnTo>
                  <a:cubicBezTo>
                    <a:pt x="671615" y="598628"/>
                    <a:pt x="544000" y="726242"/>
                    <a:pt x="386580" y="726242"/>
                  </a:cubicBezTo>
                  <a:lnTo>
                    <a:pt x="285035" y="726242"/>
                  </a:lnTo>
                  <a:cubicBezTo>
                    <a:pt x="127614" y="726242"/>
                    <a:pt x="0" y="598628"/>
                    <a:pt x="0" y="441207"/>
                  </a:cubicBezTo>
                  <a:lnTo>
                    <a:pt x="0" y="285035"/>
                  </a:lnTo>
                  <a:cubicBezTo>
                    <a:pt x="0" y="127614"/>
                    <a:pt x="127614" y="0"/>
                    <a:pt x="285035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9574886" y="6829088"/>
            <a:ext cx="858276" cy="8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44"/>
              </a:lnSpc>
            </a:pPr>
            <a:r>
              <a:rPr lang="en-US" sz="4888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6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3849" y="387690"/>
            <a:ext cx="5200727" cy="1698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Index</a:t>
            </a:r>
          </a:p>
          <a:p>
            <a:pPr algn="l">
              <a:lnSpc>
                <a:spcPts val="4770"/>
              </a:lnSpc>
            </a:pPr>
            <a:r>
              <a:rPr lang="en-US" sz="3407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10049201" y="0"/>
            <a:ext cx="8238799" cy="4805455"/>
            <a:chOff x="0" y="0"/>
            <a:chExt cx="2169889" cy="12656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69889" cy="1265634"/>
            </a:xfrm>
            <a:custGeom>
              <a:avLst/>
              <a:gdLst/>
              <a:ahLst/>
              <a:cxnLst/>
              <a:rect l="l" t="t" r="r" b="b"/>
              <a:pathLst>
                <a:path w="2169889" h="1265634">
                  <a:moveTo>
                    <a:pt x="0" y="0"/>
                  </a:moveTo>
                  <a:lnTo>
                    <a:pt x="2169889" y="0"/>
                  </a:lnTo>
                  <a:lnTo>
                    <a:pt x="2169889" y="1265634"/>
                  </a:lnTo>
                  <a:lnTo>
                    <a:pt x="0" y="1265634"/>
                  </a:lnTo>
                  <a:close/>
                </a:path>
              </a:pathLst>
            </a:custGeom>
            <a:solidFill>
              <a:srgbClr val="EBEBEB">
                <a:alpha val="71765"/>
              </a:srgbClr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69889" cy="1303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34068" y="1402893"/>
            <a:ext cx="1824761" cy="1627278"/>
            <a:chOff x="0" y="0"/>
            <a:chExt cx="884718" cy="7889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4718" cy="788970"/>
            </a:xfrm>
            <a:custGeom>
              <a:avLst/>
              <a:gdLst/>
              <a:ahLst/>
              <a:cxnLst/>
              <a:rect l="l" t="t" r="r" b="b"/>
              <a:pathLst>
                <a:path w="884718" h="788970">
                  <a:moveTo>
                    <a:pt x="216378" y="0"/>
                  </a:moveTo>
                  <a:lnTo>
                    <a:pt x="668340" y="0"/>
                  </a:lnTo>
                  <a:cubicBezTo>
                    <a:pt x="787842" y="0"/>
                    <a:pt x="884718" y="96876"/>
                    <a:pt x="884718" y="216378"/>
                  </a:cubicBezTo>
                  <a:lnTo>
                    <a:pt x="884718" y="572592"/>
                  </a:lnTo>
                  <a:cubicBezTo>
                    <a:pt x="884718" y="692095"/>
                    <a:pt x="787842" y="788970"/>
                    <a:pt x="668340" y="788970"/>
                  </a:cubicBezTo>
                  <a:lnTo>
                    <a:pt x="216378" y="788970"/>
                  </a:lnTo>
                  <a:cubicBezTo>
                    <a:pt x="96876" y="788970"/>
                    <a:pt x="0" y="692095"/>
                    <a:pt x="0" y="572592"/>
                  </a:cubicBezTo>
                  <a:lnTo>
                    <a:pt x="0" y="216378"/>
                  </a:lnTo>
                  <a:cubicBezTo>
                    <a:pt x="0" y="96876"/>
                    <a:pt x="96876" y="0"/>
                    <a:pt x="216378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84718" cy="827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688950" y="1635507"/>
            <a:ext cx="4944266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191919"/>
                </a:solidFill>
                <a:latin typeface="Georgia Bold"/>
                <a:ea typeface="Georgia Bold"/>
                <a:cs typeface="Georgia Bold"/>
                <a:sym typeface="Georgia Bold"/>
              </a:rPr>
              <a:t>OUR TEAM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06113" y="1202868"/>
            <a:ext cx="3675021" cy="1827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48"/>
              </a:lnSpc>
            </a:pPr>
            <a:r>
              <a:rPr lang="en-US" sz="10677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98658" y="6272000"/>
            <a:ext cx="2869829" cy="2986300"/>
            <a:chOff x="0" y="0"/>
            <a:chExt cx="781099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1099" cy="812800"/>
            </a:xfrm>
            <a:custGeom>
              <a:avLst/>
              <a:gdLst/>
              <a:ahLst/>
              <a:cxnLst/>
              <a:rect l="l" t="t" r="r" b="b"/>
              <a:pathLst>
                <a:path w="781099" h="812800">
                  <a:moveTo>
                    <a:pt x="390550" y="0"/>
                  </a:moveTo>
                  <a:cubicBezTo>
                    <a:pt x="174855" y="0"/>
                    <a:pt x="0" y="181951"/>
                    <a:pt x="0" y="406400"/>
                  </a:cubicBezTo>
                  <a:cubicBezTo>
                    <a:pt x="0" y="630849"/>
                    <a:pt x="174855" y="812800"/>
                    <a:pt x="390550" y="812800"/>
                  </a:cubicBezTo>
                  <a:cubicBezTo>
                    <a:pt x="606244" y="812800"/>
                    <a:pt x="781099" y="630849"/>
                    <a:pt x="781099" y="406400"/>
                  </a:cubicBezTo>
                  <a:cubicBezTo>
                    <a:pt x="781099" y="181951"/>
                    <a:pt x="606244" y="0"/>
                    <a:pt x="390550" y="0"/>
                  </a:cubicBezTo>
                  <a:close/>
                </a:path>
              </a:pathLst>
            </a:custGeom>
            <a:blipFill>
              <a:blip r:embed="rId3"/>
              <a:stretch>
                <a:fillRect t="-2932" b="-41578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098080" y="6166188"/>
            <a:ext cx="3151539" cy="3242925"/>
            <a:chOff x="0" y="0"/>
            <a:chExt cx="835558" cy="8597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35558" cy="859787"/>
            </a:xfrm>
            <a:custGeom>
              <a:avLst/>
              <a:gdLst/>
              <a:ahLst/>
              <a:cxnLst/>
              <a:rect l="l" t="t" r="r" b="b"/>
              <a:pathLst>
                <a:path w="835558" h="859787">
                  <a:moveTo>
                    <a:pt x="417779" y="0"/>
                  </a:moveTo>
                  <a:cubicBezTo>
                    <a:pt x="187046" y="0"/>
                    <a:pt x="0" y="192470"/>
                    <a:pt x="0" y="429894"/>
                  </a:cubicBezTo>
                  <a:cubicBezTo>
                    <a:pt x="0" y="667317"/>
                    <a:pt x="187046" y="859787"/>
                    <a:pt x="417779" y="859787"/>
                  </a:cubicBezTo>
                  <a:cubicBezTo>
                    <a:pt x="648512" y="859787"/>
                    <a:pt x="835558" y="667317"/>
                    <a:pt x="835558" y="429894"/>
                  </a:cubicBezTo>
                  <a:cubicBezTo>
                    <a:pt x="835558" y="192470"/>
                    <a:pt x="648512" y="0"/>
                    <a:pt x="417779" y="0"/>
                  </a:cubicBezTo>
                  <a:close/>
                </a:path>
              </a:pathLst>
            </a:custGeom>
            <a:blipFill>
              <a:blip r:embed="rId4"/>
              <a:stretch>
                <a:fillRect l="-12388" t="-66296" r="-78864" b="-81521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206218" y="2208239"/>
            <a:ext cx="2935261" cy="293526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27028" t="-73989" r="-67029" b="-84753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14013" y="2208239"/>
            <a:ext cx="3039118" cy="303911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t="-16666" b="-16666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41419" y="330305"/>
            <a:ext cx="5200727" cy="1698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Our Team</a:t>
            </a:r>
          </a:p>
          <a:p>
            <a:pPr algn="l">
              <a:lnSpc>
                <a:spcPts val="4770"/>
              </a:lnSpc>
            </a:pPr>
            <a:r>
              <a:rPr lang="en-US" sz="3407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3786" y="2875887"/>
            <a:ext cx="3002691" cy="91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Foffano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Claudia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3786" y="7223758"/>
            <a:ext cx="3002691" cy="91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Nuñez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Luis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830347" y="2875887"/>
            <a:ext cx="3002691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Iacobet </a:t>
            </a:r>
          </a:p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Ecaterina</a:t>
            </a:r>
          </a:p>
          <a:p>
            <a:pPr algn="ctr">
              <a:lnSpc>
                <a:spcPts val="4759"/>
              </a:lnSpc>
            </a:pPr>
            <a:endParaRPr lang="en-US" sz="2599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830347" y="7296795"/>
            <a:ext cx="3002691" cy="91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Bruzzese</a:t>
            </a:r>
          </a:p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Fulvio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9" b="-9339"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10049201" y="0"/>
            <a:ext cx="8238799" cy="4790298"/>
            <a:chOff x="0" y="0"/>
            <a:chExt cx="2169889" cy="12616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69889" cy="1261642"/>
            </a:xfrm>
            <a:custGeom>
              <a:avLst/>
              <a:gdLst/>
              <a:ahLst/>
              <a:cxnLst/>
              <a:rect l="l" t="t" r="r" b="b"/>
              <a:pathLst>
                <a:path w="2169889" h="1261642">
                  <a:moveTo>
                    <a:pt x="0" y="0"/>
                  </a:moveTo>
                  <a:lnTo>
                    <a:pt x="2169889" y="0"/>
                  </a:lnTo>
                  <a:lnTo>
                    <a:pt x="2169889" y="1261642"/>
                  </a:lnTo>
                  <a:lnTo>
                    <a:pt x="0" y="1261642"/>
                  </a:lnTo>
                  <a:close/>
                </a:path>
              </a:pathLst>
            </a:custGeom>
            <a:solidFill>
              <a:srgbClr val="EBEBEB">
                <a:alpha val="71765"/>
              </a:srgbClr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69889" cy="1299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34068" y="1402893"/>
            <a:ext cx="2109977" cy="1864958"/>
            <a:chOff x="0" y="0"/>
            <a:chExt cx="1023002" cy="9042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23002" cy="904207"/>
            </a:xfrm>
            <a:custGeom>
              <a:avLst/>
              <a:gdLst/>
              <a:ahLst/>
              <a:cxnLst/>
              <a:rect l="l" t="t" r="r" b="b"/>
              <a:pathLst>
                <a:path w="1023002" h="904207">
                  <a:moveTo>
                    <a:pt x="187129" y="0"/>
                  </a:moveTo>
                  <a:lnTo>
                    <a:pt x="835873" y="0"/>
                  </a:lnTo>
                  <a:cubicBezTo>
                    <a:pt x="939222" y="0"/>
                    <a:pt x="1023002" y="83781"/>
                    <a:pt x="1023002" y="187129"/>
                  </a:cubicBezTo>
                  <a:lnTo>
                    <a:pt x="1023002" y="717078"/>
                  </a:lnTo>
                  <a:cubicBezTo>
                    <a:pt x="1023002" y="820427"/>
                    <a:pt x="939222" y="904207"/>
                    <a:pt x="835873" y="904207"/>
                  </a:cubicBezTo>
                  <a:lnTo>
                    <a:pt x="187129" y="904207"/>
                  </a:lnTo>
                  <a:cubicBezTo>
                    <a:pt x="137499" y="904207"/>
                    <a:pt x="89902" y="884492"/>
                    <a:pt x="54809" y="849398"/>
                  </a:cubicBezTo>
                  <a:cubicBezTo>
                    <a:pt x="19715" y="814305"/>
                    <a:pt x="0" y="766708"/>
                    <a:pt x="0" y="717078"/>
                  </a:cubicBezTo>
                  <a:lnTo>
                    <a:pt x="0" y="187129"/>
                  </a:lnTo>
                  <a:cubicBezTo>
                    <a:pt x="0" y="83781"/>
                    <a:pt x="83781" y="0"/>
                    <a:pt x="18712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23002" cy="942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688950" y="1279068"/>
            <a:ext cx="4944266" cy="210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191919"/>
                </a:solidFill>
                <a:latin typeface="Georgia Bold"/>
                <a:ea typeface="Georgia Bold"/>
                <a:cs typeface="Georgia Bold"/>
                <a:sym typeface="Georgia Bold"/>
              </a:rPr>
              <a:t>MAIN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54772" y="1645963"/>
            <a:ext cx="2468568" cy="1235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41"/>
              </a:lnSpc>
            </a:pPr>
            <a:r>
              <a:rPr lang="en-US" sz="7172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3002" y="107551"/>
            <a:ext cx="8466932" cy="2149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The problem</a:t>
            </a:r>
          </a:p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61932" y="2514330"/>
            <a:ext cx="4694555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Sounds familiar?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3002" y="3651938"/>
            <a:ext cx="8072654" cy="2105592"/>
          </a:xfrm>
          <a:custGeom>
            <a:avLst/>
            <a:gdLst/>
            <a:ahLst/>
            <a:cxnLst/>
            <a:rect l="l" t="t" r="r" b="b"/>
            <a:pathLst>
              <a:path w="8072654" h="2105592">
                <a:moveTo>
                  <a:pt x="0" y="0"/>
                </a:moveTo>
                <a:lnTo>
                  <a:pt x="8072654" y="0"/>
                </a:lnTo>
                <a:lnTo>
                  <a:pt x="8072654" y="2105592"/>
                </a:lnTo>
                <a:lnTo>
                  <a:pt x="0" y="21055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4884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3002" y="107551"/>
            <a:ext cx="8466932" cy="2149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The problem</a:t>
            </a:r>
          </a:p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61932" y="2514330"/>
            <a:ext cx="4694555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Sounds familiar?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3002" y="3651938"/>
            <a:ext cx="8072654" cy="2105592"/>
          </a:xfrm>
          <a:custGeom>
            <a:avLst/>
            <a:gdLst/>
            <a:ahLst/>
            <a:cxnLst/>
            <a:rect l="l" t="t" r="r" b="b"/>
            <a:pathLst>
              <a:path w="8072654" h="2105592">
                <a:moveTo>
                  <a:pt x="0" y="0"/>
                </a:moveTo>
                <a:lnTo>
                  <a:pt x="8072654" y="0"/>
                </a:lnTo>
                <a:lnTo>
                  <a:pt x="8072654" y="2105592"/>
                </a:lnTo>
                <a:lnTo>
                  <a:pt x="0" y="21055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4884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8729934" y="3651938"/>
            <a:ext cx="9295588" cy="2105592"/>
          </a:xfrm>
          <a:custGeom>
            <a:avLst/>
            <a:gdLst/>
            <a:ahLst/>
            <a:cxnLst/>
            <a:rect l="l" t="t" r="r" b="b"/>
            <a:pathLst>
              <a:path w="9295588" h="2105592">
                <a:moveTo>
                  <a:pt x="0" y="0"/>
                </a:moveTo>
                <a:lnTo>
                  <a:pt x="9295588" y="0"/>
                </a:lnTo>
                <a:lnTo>
                  <a:pt x="9295588" y="2105592"/>
                </a:lnTo>
                <a:lnTo>
                  <a:pt x="0" y="2105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265" r="-3084" b="-6265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TextBox 4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3002" y="107551"/>
            <a:ext cx="8466932" cy="2149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The problem</a:t>
            </a:r>
          </a:p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61932" y="2514330"/>
            <a:ext cx="4694555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Sounds familiar?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3002" y="3651938"/>
            <a:ext cx="8072654" cy="2105592"/>
          </a:xfrm>
          <a:custGeom>
            <a:avLst/>
            <a:gdLst/>
            <a:ahLst/>
            <a:cxnLst/>
            <a:rect l="l" t="t" r="r" b="b"/>
            <a:pathLst>
              <a:path w="8072654" h="2105592">
                <a:moveTo>
                  <a:pt x="0" y="0"/>
                </a:moveTo>
                <a:lnTo>
                  <a:pt x="8072654" y="0"/>
                </a:lnTo>
                <a:lnTo>
                  <a:pt x="8072654" y="2105592"/>
                </a:lnTo>
                <a:lnTo>
                  <a:pt x="0" y="21055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4884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8729934" y="3651938"/>
            <a:ext cx="9295588" cy="2105592"/>
          </a:xfrm>
          <a:custGeom>
            <a:avLst/>
            <a:gdLst/>
            <a:ahLst/>
            <a:cxnLst/>
            <a:rect l="l" t="t" r="r" b="b"/>
            <a:pathLst>
              <a:path w="9295588" h="2105592">
                <a:moveTo>
                  <a:pt x="0" y="0"/>
                </a:moveTo>
                <a:lnTo>
                  <a:pt x="9295588" y="0"/>
                </a:lnTo>
                <a:lnTo>
                  <a:pt x="9295588" y="2105592"/>
                </a:lnTo>
                <a:lnTo>
                  <a:pt x="0" y="2105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265" r="-3084" b="-6265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Freeform 4"/>
          <p:cNvSpPr/>
          <p:nvPr/>
        </p:nvSpPr>
        <p:spPr>
          <a:xfrm>
            <a:off x="4061191" y="6100430"/>
            <a:ext cx="9156409" cy="2267688"/>
          </a:xfrm>
          <a:custGeom>
            <a:avLst/>
            <a:gdLst/>
            <a:ahLst/>
            <a:cxnLst/>
            <a:rect l="l" t="t" r="r" b="b"/>
            <a:pathLst>
              <a:path w="9156409" h="2267688">
                <a:moveTo>
                  <a:pt x="0" y="0"/>
                </a:moveTo>
                <a:lnTo>
                  <a:pt x="9156409" y="0"/>
                </a:lnTo>
                <a:lnTo>
                  <a:pt x="9156409" y="2267688"/>
                </a:lnTo>
                <a:lnTo>
                  <a:pt x="0" y="22676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270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TextBox 5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3002" y="107551"/>
            <a:ext cx="8466932" cy="2149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The problem</a:t>
            </a:r>
          </a:p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61932" y="2514330"/>
            <a:ext cx="4694555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Sounds familiar?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91009" y="3482448"/>
            <a:ext cx="1249053" cy="1249053"/>
          </a:xfrm>
          <a:custGeom>
            <a:avLst/>
            <a:gdLst/>
            <a:ahLst/>
            <a:cxnLst/>
            <a:rect l="l" t="t" r="r" b="b"/>
            <a:pathLst>
              <a:path w="1249053" h="1249053">
                <a:moveTo>
                  <a:pt x="0" y="0"/>
                </a:moveTo>
                <a:lnTo>
                  <a:pt x="1249053" y="0"/>
                </a:lnTo>
                <a:lnTo>
                  <a:pt x="1249053" y="1249053"/>
                </a:lnTo>
                <a:lnTo>
                  <a:pt x="0" y="1249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3002" y="107551"/>
            <a:ext cx="8466932" cy="2149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The solution</a:t>
            </a:r>
          </a:p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2497" y="4898214"/>
            <a:ext cx="8789802" cy="1403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88AF54"/>
                </a:solidFill>
                <a:latin typeface="Georgia"/>
                <a:ea typeface="Georgia"/>
                <a:cs typeface="Georgia"/>
                <a:sym typeface="Georgia"/>
              </a:rPr>
              <a:t>WE TURNED EVERY COMPLAINT INTO A FEATURE</a:t>
            </a:r>
          </a:p>
        </p:txBody>
      </p:sp>
      <p:sp>
        <p:nvSpPr>
          <p:cNvPr id="6" name="Freeform 6"/>
          <p:cNvSpPr/>
          <p:nvPr/>
        </p:nvSpPr>
        <p:spPr>
          <a:xfrm>
            <a:off x="10491009" y="5052498"/>
            <a:ext cx="1249053" cy="1249053"/>
          </a:xfrm>
          <a:custGeom>
            <a:avLst/>
            <a:gdLst/>
            <a:ahLst/>
            <a:cxnLst/>
            <a:rect l="l" t="t" r="r" b="b"/>
            <a:pathLst>
              <a:path w="1249053" h="1249053">
                <a:moveTo>
                  <a:pt x="0" y="0"/>
                </a:moveTo>
                <a:lnTo>
                  <a:pt x="1249053" y="0"/>
                </a:lnTo>
                <a:lnTo>
                  <a:pt x="1249053" y="1249053"/>
                </a:lnTo>
                <a:lnTo>
                  <a:pt x="0" y="1249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10491009" y="6728594"/>
            <a:ext cx="1249053" cy="1249053"/>
          </a:xfrm>
          <a:custGeom>
            <a:avLst/>
            <a:gdLst/>
            <a:ahLst/>
            <a:cxnLst/>
            <a:rect l="l" t="t" r="r" b="b"/>
            <a:pathLst>
              <a:path w="1249053" h="1249053">
                <a:moveTo>
                  <a:pt x="0" y="0"/>
                </a:moveTo>
                <a:lnTo>
                  <a:pt x="1249053" y="0"/>
                </a:lnTo>
                <a:lnTo>
                  <a:pt x="1249053" y="1249052"/>
                </a:lnTo>
                <a:lnTo>
                  <a:pt x="0" y="1249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TextBox 8"/>
          <p:cNvSpPr txBox="1"/>
          <p:nvPr/>
        </p:nvSpPr>
        <p:spPr>
          <a:xfrm>
            <a:off x="12635124" y="3672756"/>
            <a:ext cx="365426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Book Reservations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635124" y="7021332"/>
            <a:ext cx="2742565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Manage shifts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635124" y="5300469"/>
            <a:ext cx="2462689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Make orders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49782" y="5294312"/>
            <a:ext cx="2491324" cy="4114800"/>
          </a:xfrm>
          <a:custGeom>
            <a:avLst/>
            <a:gdLst/>
            <a:ahLst/>
            <a:cxnLst/>
            <a:rect l="l" t="t" r="r" b="b"/>
            <a:pathLst>
              <a:path w="2491324" h="4114800">
                <a:moveTo>
                  <a:pt x="0" y="0"/>
                </a:moveTo>
                <a:lnTo>
                  <a:pt x="2491324" y="0"/>
                </a:lnTo>
                <a:lnTo>
                  <a:pt x="24913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11273645" y="5767052"/>
            <a:ext cx="2647462" cy="3642061"/>
          </a:xfrm>
          <a:custGeom>
            <a:avLst/>
            <a:gdLst/>
            <a:ahLst/>
            <a:cxnLst/>
            <a:rect l="l" t="t" r="r" b="b"/>
            <a:pathLst>
              <a:path w="2647462" h="3642061">
                <a:moveTo>
                  <a:pt x="0" y="0"/>
                </a:moveTo>
                <a:lnTo>
                  <a:pt x="2647462" y="0"/>
                </a:lnTo>
                <a:lnTo>
                  <a:pt x="2647462" y="3642060"/>
                </a:lnTo>
                <a:lnTo>
                  <a:pt x="0" y="36420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10"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4" name="Group 4"/>
          <p:cNvGrpSpPr/>
          <p:nvPr/>
        </p:nvGrpSpPr>
        <p:grpSpPr>
          <a:xfrm>
            <a:off x="4496468" y="3552234"/>
            <a:ext cx="3745977" cy="1347875"/>
            <a:chOff x="0" y="0"/>
            <a:chExt cx="812800" cy="29246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292461"/>
            </a:xfrm>
            <a:custGeom>
              <a:avLst/>
              <a:gdLst/>
              <a:ahLst/>
              <a:cxnLst/>
              <a:rect l="l" t="t" r="r" b="b"/>
              <a:pathLst>
                <a:path w="812800" h="292461">
                  <a:moveTo>
                    <a:pt x="406400" y="0"/>
                  </a:moveTo>
                  <a:cubicBezTo>
                    <a:pt x="181951" y="0"/>
                    <a:pt x="0" y="65470"/>
                    <a:pt x="0" y="146231"/>
                  </a:cubicBezTo>
                  <a:cubicBezTo>
                    <a:pt x="0" y="226991"/>
                    <a:pt x="181951" y="292461"/>
                    <a:pt x="406400" y="292461"/>
                  </a:cubicBezTo>
                  <a:cubicBezTo>
                    <a:pt x="630849" y="292461"/>
                    <a:pt x="812800" y="226991"/>
                    <a:pt x="812800" y="146231"/>
                  </a:cubicBezTo>
                  <a:cubicBezTo>
                    <a:pt x="812800" y="6547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-10682"/>
              <a:ext cx="660400" cy="275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25620" y="3832004"/>
            <a:ext cx="3916825" cy="65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Waiter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461726" y="3561927"/>
            <a:ext cx="3745977" cy="1347875"/>
            <a:chOff x="0" y="0"/>
            <a:chExt cx="812800" cy="29246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292461"/>
            </a:xfrm>
            <a:custGeom>
              <a:avLst/>
              <a:gdLst/>
              <a:ahLst/>
              <a:cxnLst/>
              <a:rect l="l" t="t" r="r" b="b"/>
              <a:pathLst>
                <a:path w="812800" h="292461">
                  <a:moveTo>
                    <a:pt x="406400" y="0"/>
                  </a:moveTo>
                  <a:cubicBezTo>
                    <a:pt x="181951" y="0"/>
                    <a:pt x="0" y="65470"/>
                    <a:pt x="0" y="146231"/>
                  </a:cubicBezTo>
                  <a:cubicBezTo>
                    <a:pt x="0" y="226991"/>
                    <a:pt x="181951" y="292461"/>
                    <a:pt x="406400" y="292461"/>
                  </a:cubicBezTo>
                  <a:cubicBezTo>
                    <a:pt x="630849" y="292461"/>
                    <a:pt x="812800" y="226991"/>
                    <a:pt x="812800" y="146231"/>
                  </a:cubicBezTo>
                  <a:cubicBezTo>
                    <a:pt x="812800" y="6547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-10682"/>
              <a:ext cx="660400" cy="275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351324" y="3822311"/>
            <a:ext cx="3966779" cy="65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Customer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71661" y="2581319"/>
            <a:ext cx="520581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Role-Based Application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3002" y="107551"/>
            <a:ext cx="8466932" cy="2149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Login Service</a:t>
            </a:r>
          </a:p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48163" y="515093"/>
            <a:ext cx="1427265" cy="1551375"/>
          </a:xfrm>
          <a:custGeom>
            <a:avLst/>
            <a:gdLst/>
            <a:ahLst/>
            <a:cxnLst/>
            <a:rect l="l" t="t" r="r" b="b"/>
            <a:pathLst>
              <a:path w="1427265" h="1551375">
                <a:moveTo>
                  <a:pt x="0" y="0"/>
                </a:moveTo>
                <a:lnTo>
                  <a:pt x="1427265" y="0"/>
                </a:lnTo>
                <a:lnTo>
                  <a:pt x="1427265" y="1551375"/>
                </a:lnTo>
                <a:lnTo>
                  <a:pt x="0" y="15513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15412797" y="706524"/>
            <a:ext cx="1451832" cy="1359443"/>
          </a:xfrm>
          <a:custGeom>
            <a:avLst/>
            <a:gdLst/>
            <a:ahLst/>
            <a:cxnLst/>
            <a:rect l="l" t="t" r="r" b="b"/>
            <a:pathLst>
              <a:path w="1451832" h="1359443">
                <a:moveTo>
                  <a:pt x="0" y="0"/>
                </a:moveTo>
                <a:lnTo>
                  <a:pt x="1451832" y="0"/>
                </a:lnTo>
                <a:lnTo>
                  <a:pt x="1451832" y="1359443"/>
                </a:lnTo>
                <a:lnTo>
                  <a:pt x="0" y="13594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Freeform 4"/>
          <p:cNvSpPr/>
          <p:nvPr/>
        </p:nvSpPr>
        <p:spPr>
          <a:xfrm>
            <a:off x="9144000" y="898958"/>
            <a:ext cx="1202520" cy="1077895"/>
          </a:xfrm>
          <a:custGeom>
            <a:avLst/>
            <a:gdLst/>
            <a:ahLst/>
            <a:cxnLst/>
            <a:rect l="l" t="t" r="r" b="b"/>
            <a:pathLst>
              <a:path w="1202520" h="1077895">
                <a:moveTo>
                  <a:pt x="0" y="0"/>
                </a:moveTo>
                <a:lnTo>
                  <a:pt x="1202520" y="0"/>
                </a:lnTo>
                <a:lnTo>
                  <a:pt x="1202520" y="1077895"/>
                </a:lnTo>
                <a:lnTo>
                  <a:pt x="0" y="10778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5" name="Group 5"/>
          <p:cNvGrpSpPr/>
          <p:nvPr/>
        </p:nvGrpSpPr>
        <p:grpSpPr>
          <a:xfrm>
            <a:off x="8945180" y="2970588"/>
            <a:ext cx="6467617" cy="5437651"/>
            <a:chOff x="0" y="0"/>
            <a:chExt cx="8623490" cy="7250201"/>
          </a:xfrm>
        </p:grpSpPr>
        <p:sp>
          <p:nvSpPr>
            <p:cNvPr id="6" name="TextBox 6"/>
            <p:cNvSpPr txBox="1"/>
            <p:nvPr/>
          </p:nvSpPr>
          <p:spPr>
            <a:xfrm>
              <a:off x="0" y="-228600"/>
              <a:ext cx="8596108" cy="9303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467"/>
                </a:lnSpc>
              </a:pPr>
              <a:r>
                <a:rPr lang="en-US" sz="3477" spc="184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book reservations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11753"/>
              <a:ext cx="8623490" cy="1080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80"/>
                </a:lnSpc>
              </a:pPr>
              <a:r>
                <a:rPr lang="en-US" sz="2139" spc="211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Reserve your table in advance and skip the wait.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620448"/>
              <a:ext cx="8594193" cy="9303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467"/>
                </a:lnSpc>
              </a:pPr>
              <a:r>
                <a:rPr lang="en-US" sz="3477" spc="184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MAKE ORDERS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733379"/>
              <a:ext cx="8623447" cy="1080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80"/>
                </a:lnSpc>
              </a:pPr>
              <a:r>
                <a:rPr lang="en-US" sz="2139" spc="211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Start an order and pick the drinks for your table.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5086286"/>
              <a:ext cx="8594083" cy="9303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467"/>
                </a:lnSpc>
              </a:pPr>
              <a:r>
                <a:rPr lang="en-US" sz="3477" spc="184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manage supplies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169275"/>
              <a:ext cx="8593547" cy="1080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80"/>
                </a:lnSpc>
              </a:pPr>
              <a:r>
                <a:rPr lang="en-US" sz="2139" spc="211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Track stock in real time and never run out.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1192158" y="515093"/>
            <a:ext cx="1108280" cy="1461760"/>
          </a:xfrm>
          <a:custGeom>
            <a:avLst/>
            <a:gdLst/>
            <a:ahLst/>
            <a:cxnLst/>
            <a:rect l="l" t="t" r="r" b="b"/>
            <a:pathLst>
              <a:path w="1108280" h="1461760">
                <a:moveTo>
                  <a:pt x="0" y="0"/>
                </a:moveTo>
                <a:lnTo>
                  <a:pt x="1108280" y="0"/>
                </a:lnTo>
                <a:lnTo>
                  <a:pt x="1108280" y="1461760"/>
                </a:lnTo>
                <a:lnTo>
                  <a:pt x="0" y="14617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3" name="TextBox 13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86588" y="2970588"/>
            <a:ext cx="6138490" cy="5272727"/>
            <a:chOff x="0" y="0"/>
            <a:chExt cx="8184654" cy="7030302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219075"/>
              <a:ext cx="8158665" cy="9022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68"/>
                </a:lnSpc>
              </a:pPr>
              <a:r>
                <a:rPr lang="en-US" sz="3370" spc="178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rOLE SEPARATION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786877"/>
              <a:ext cx="8184654" cy="10506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76"/>
                </a:lnSpc>
              </a:pPr>
              <a:r>
                <a:rPr lang="en-US" sz="2073" spc="205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Role-based access keeps every user to the right features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545388"/>
              <a:ext cx="8156848" cy="8992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68"/>
                </a:lnSpc>
              </a:pPr>
              <a:r>
                <a:rPr lang="en-US" sz="3370" spc="178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leave reviews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3618677"/>
              <a:ext cx="8184613" cy="10506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76"/>
                </a:lnSpc>
              </a:pPr>
              <a:r>
                <a:rPr lang="en-US" sz="2073" spc="205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Share your feedback about your experience at LoungeBar.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4935414"/>
              <a:ext cx="8156743" cy="8992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68"/>
                </a:lnSpc>
              </a:pPr>
              <a:r>
                <a:rPr lang="en-US" sz="3370" spc="178">
                  <a:solidFill>
                    <a:srgbClr val="00000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manage shifts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5979680"/>
              <a:ext cx="8156235" cy="10506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76"/>
                </a:lnSpc>
              </a:pPr>
              <a:r>
                <a:rPr lang="en-US" sz="2073" spc="205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 simple interface to organize waiter shifts.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63002" y="107551"/>
            <a:ext cx="8466932" cy="2149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Main Features</a:t>
            </a:r>
          </a:p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</p:spTree>
  </p:cSld>
  <p:clrMapOvr>
    <a:masterClrMapping/>
  </p:clrMapOvr>
  <p:transition spd="med">
    <p:circl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10049201" y="0"/>
            <a:ext cx="8238799" cy="4766210"/>
            <a:chOff x="0" y="0"/>
            <a:chExt cx="2169889" cy="12552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69889" cy="1255298"/>
            </a:xfrm>
            <a:custGeom>
              <a:avLst/>
              <a:gdLst/>
              <a:ahLst/>
              <a:cxnLst/>
              <a:rect l="l" t="t" r="r" b="b"/>
              <a:pathLst>
                <a:path w="2169889" h="1255298">
                  <a:moveTo>
                    <a:pt x="0" y="0"/>
                  </a:moveTo>
                  <a:lnTo>
                    <a:pt x="2169889" y="0"/>
                  </a:lnTo>
                  <a:lnTo>
                    <a:pt x="2169889" y="1255298"/>
                  </a:lnTo>
                  <a:lnTo>
                    <a:pt x="0" y="1255298"/>
                  </a:lnTo>
                  <a:close/>
                </a:path>
              </a:pathLst>
            </a:custGeom>
            <a:solidFill>
              <a:srgbClr val="EBEBEB">
                <a:alpha val="71765"/>
              </a:srgbClr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69889" cy="1293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34068" y="1402893"/>
            <a:ext cx="1824761" cy="1627278"/>
            <a:chOff x="0" y="0"/>
            <a:chExt cx="884718" cy="7889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4718" cy="788970"/>
            </a:xfrm>
            <a:custGeom>
              <a:avLst/>
              <a:gdLst/>
              <a:ahLst/>
              <a:cxnLst/>
              <a:rect l="l" t="t" r="r" b="b"/>
              <a:pathLst>
                <a:path w="884718" h="788970">
                  <a:moveTo>
                    <a:pt x="216378" y="0"/>
                  </a:moveTo>
                  <a:lnTo>
                    <a:pt x="668340" y="0"/>
                  </a:lnTo>
                  <a:cubicBezTo>
                    <a:pt x="787842" y="0"/>
                    <a:pt x="884718" y="96876"/>
                    <a:pt x="884718" y="216378"/>
                  </a:cubicBezTo>
                  <a:lnTo>
                    <a:pt x="884718" y="572592"/>
                  </a:lnTo>
                  <a:cubicBezTo>
                    <a:pt x="884718" y="692095"/>
                    <a:pt x="787842" y="788970"/>
                    <a:pt x="668340" y="788970"/>
                  </a:cubicBezTo>
                  <a:lnTo>
                    <a:pt x="216378" y="788970"/>
                  </a:lnTo>
                  <a:cubicBezTo>
                    <a:pt x="96876" y="788970"/>
                    <a:pt x="0" y="692095"/>
                    <a:pt x="0" y="572592"/>
                  </a:cubicBezTo>
                  <a:lnTo>
                    <a:pt x="0" y="216378"/>
                  </a:lnTo>
                  <a:cubicBezTo>
                    <a:pt x="0" y="96876"/>
                    <a:pt x="96876" y="0"/>
                    <a:pt x="216378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84718" cy="827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436378" y="1372114"/>
            <a:ext cx="4822922" cy="1015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3"/>
              </a:lnSpc>
            </a:pPr>
            <a:r>
              <a:rPr lang="en-US" sz="5852" b="1">
                <a:solidFill>
                  <a:srgbClr val="191919"/>
                </a:solidFill>
                <a:latin typeface="Georgia Bold"/>
                <a:ea typeface="Georgia Bold"/>
                <a:cs typeface="Georgia Bold"/>
                <a:sym typeface="Georgia Bold"/>
              </a:rPr>
              <a:t>BACKEND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06113" y="1202868"/>
            <a:ext cx="3675021" cy="1827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48"/>
              </a:lnSpc>
            </a:pPr>
            <a:r>
              <a:rPr lang="en-US" sz="10677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0060" y="2604664"/>
            <a:ext cx="16429240" cy="6102806"/>
            <a:chOff x="0" y="0"/>
            <a:chExt cx="4327043" cy="16073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27043" cy="1607323"/>
            </a:xfrm>
            <a:custGeom>
              <a:avLst/>
              <a:gdLst/>
              <a:ahLst/>
              <a:cxnLst/>
              <a:rect l="l" t="t" r="r" b="b"/>
              <a:pathLst>
                <a:path w="4327043" h="1607323">
                  <a:moveTo>
                    <a:pt x="15079" y="0"/>
                  </a:moveTo>
                  <a:lnTo>
                    <a:pt x="4311964" y="0"/>
                  </a:lnTo>
                  <a:cubicBezTo>
                    <a:pt x="4315963" y="0"/>
                    <a:pt x="4319798" y="1589"/>
                    <a:pt x="4322626" y="4417"/>
                  </a:cubicBezTo>
                  <a:cubicBezTo>
                    <a:pt x="4325454" y="7245"/>
                    <a:pt x="4327043" y="11080"/>
                    <a:pt x="4327043" y="15079"/>
                  </a:cubicBezTo>
                  <a:lnTo>
                    <a:pt x="4327043" y="1592244"/>
                  </a:lnTo>
                  <a:cubicBezTo>
                    <a:pt x="4327043" y="1596243"/>
                    <a:pt x="4325454" y="1600079"/>
                    <a:pt x="4322626" y="1602907"/>
                  </a:cubicBezTo>
                  <a:cubicBezTo>
                    <a:pt x="4319798" y="1605735"/>
                    <a:pt x="4315963" y="1607323"/>
                    <a:pt x="4311964" y="1607323"/>
                  </a:cubicBezTo>
                  <a:lnTo>
                    <a:pt x="15079" y="1607323"/>
                  </a:lnTo>
                  <a:cubicBezTo>
                    <a:pt x="11080" y="1607323"/>
                    <a:pt x="7245" y="1605735"/>
                    <a:pt x="4417" y="1602907"/>
                  </a:cubicBezTo>
                  <a:cubicBezTo>
                    <a:pt x="1589" y="1600079"/>
                    <a:pt x="0" y="1596243"/>
                    <a:pt x="0" y="1592244"/>
                  </a:cubicBezTo>
                  <a:lnTo>
                    <a:pt x="0" y="15079"/>
                  </a:lnTo>
                  <a:cubicBezTo>
                    <a:pt x="0" y="11080"/>
                    <a:pt x="1589" y="7245"/>
                    <a:pt x="4417" y="4417"/>
                  </a:cubicBezTo>
                  <a:cubicBezTo>
                    <a:pt x="7245" y="1589"/>
                    <a:pt x="11080" y="0"/>
                    <a:pt x="15079" y="0"/>
                  </a:cubicBezTo>
                  <a:close/>
                </a:path>
              </a:pathLst>
            </a:custGeom>
            <a:solidFill>
              <a:srgbClr val="EBEBE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27043" cy="16454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046857" y="2985136"/>
            <a:ext cx="2524402" cy="2158364"/>
          </a:xfrm>
          <a:custGeom>
            <a:avLst/>
            <a:gdLst/>
            <a:ahLst/>
            <a:cxnLst/>
            <a:rect l="l" t="t" r="r" b="b"/>
            <a:pathLst>
              <a:path w="2524402" h="2158364">
                <a:moveTo>
                  <a:pt x="0" y="0"/>
                </a:moveTo>
                <a:lnTo>
                  <a:pt x="2524402" y="0"/>
                </a:lnTo>
                <a:lnTo>
                  <a:pt x="2524402" y="2158364"/>
                </a:lnTo>
                <a:lnTo>
                  <a:pt x="0" y="2158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1555209" y="3122976"/>
            <a:ext cx="3955656" cy="1003748"/>
          </a:xfrm>
          <a:custGeom>
            <a:avLst/>
            <a:gdLst/>
            <a:ahLst/>
            <a:cxnLst/>
            <a:rect l="l" t="t" r="r" b="b"/>
            <a:pathLst>
              <a:path w="3955656" h="1003748">
                <a:moveTo>
                  <a:pt x="0" y="0"/>
                </a:moveTo>
                <a:lnTo>
                  <a:pt x="3955656" y="0"/>
                </a:lnTo>
                <a:lnTo>
                  <a:pt x="3955656" y="1003748"/>
                </a:lnTo>
                <a:lnTo>
                  <a:pt x="0" y="10037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11683272" y="6146643"/>
            <a:ext cx="2644238" cy="1884297"/>
          </a:xfrm>
          <a:custGeom>
            <a:avLst/>
            <a:gdLst/>
            <a:ahLst/>
            <a:cxnLst/>
            <a:rect l="l" t="t" r="r" b="b"/>
            <a:pathLst>
              <a:path w="2644238" h="1884297">
                <a:moveTo>
                  <a:pt x="0" y="0"/>
                </a:moveTo>
                <a:lnTo>
                  <a:pt x="2644238" y="0"/>
                </a:lnTo>
                <a:lnTo>
                  <a:pt x="2644238" y="1884297"/>
                </a:lnTo>
                <a:lnTo>
                  <a:pt x="0" y="18842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Freeform 8"/>
          <p:cNvSpPr/>
          <p:nvPr/>
        </p:nvSpPr>
        <p:spPr>
          <a:xfrm>
            <a:off x="14026298" y="3122976"/>
            <a:ext cx="1947151" cy="1947151"/>
          </a:xfrm>
          <a:custGeom>
            <a:avLst/>
            <a:gdLst/>
            <a:ahLst/>
            <a:cxnLst/>
            <a:rect l="l" t="t" r="r" b="b"/>
            <a:pathLst>
              <a:path w="1947151" h="1947151">
                <a:moveTo>
                  <a:pt x="0" y="0"/>
                </a:moveTo>
                <a:lnTo>
                  <a:pt x="1947152" y="0"/>
                </a:lnTo>
                <a:lnTo>
                  <a:pt x="1947152" y="1947152"/>
                </a:lnTo>
                <a:lnTo>
                  <a:pt x="0" y="19471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Freeform 9"/>
          <p:cNvSpPr/>
          <p:nvPr/>
        </p:nvSpPr>
        <p:spPr>
          <a:xfrm>
            <a:off x="5888217" y="5832546"/>
            <a:ext cx="2131298" cy="2198394"/>
          </a:xfrm>
          <a:custGeom>
            <a:avLst/>
            <a:gdLst/>
            <a:ahLst/>
            <a:cxnLst/>
            <a:rect l="l" t="t" r="r" b="b"/>
            <a:pathLst>
              <a:path w="2131298" h="2198394">
                <a:moveTo>
                  <a:pt x="0" y="0"/>
                </a:moveTo>
                <a:lnTo>
                  <a:pt x="2131298" y="0"/>
                </a:lnTo>
                <a:lnTo>
                  <a:pt x="2131298" y="2198394"/>
                </a:lnTo>
                <a:lnTo>
                  <a:pt x="0" y="21983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0" name="Freeform 10"/>
          <p:cNvSpPr/>
          <p:nvPr/>
        </p:nvSpPr>
        <p:spPr>
          <a:xfrm>
            <a:off x="1555209" y="5979167"/>
            <a:ext cx="1797575" cy="1797575"/>
          </a:xfrm>
          <a:custGeom>
            <a:avLst/>
            <a:gdLst/>
            <a:ahLst/>
            <a:cxnLst/>
            <a:rect l="l" t="t" r="r" b="b"/>
            <a:pathLst>
              <a:path w="1797575" h="1797575">
                <a:moveTo>
                  <a:pt x="0" y="0"/>
                </a:moveTo>
                <a:lnTo>
                  <a:pt x="1797575" y="0"/>
                </a:lnTo>
                <a:lnTo>
                  <a:pt x="1797575" y="1797575"/>
                </a:lnTo>
                <a:lnTo>
                  <a:pt x="0" y="17975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1" name="TextBox 11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3002" y="107551"/>
            <a:ext cx="8466932" cy="2149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Tools</a:t>
            </a:r>
          </a:p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02" y="0"/>
            <a:ext cx="7644331" cy="10287000"/>
          </a:xfrm>
          <a:custGeom>
            <a:avLst/>
            <a:gdLst/>
            <a:ahLst/>
            <a:cxnLst/>
            <a:rect l="l" t="t" r="r" b="b"/>
            <a:pathLst>
              <a:path w="7644331" h="10287000">
                <a:moveTo>
                  <a:pt x="0" y="0"/>
                </a:moveTo>
                <a:lnTo>
                  <a:pt x="7644331" y="0"/>
                </a:lnTo>
                <a:lnTo>
                  <a:pt x="764433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9144000" y="3265574"/>
            <a:ext cx="6800875" cy="3143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PROJECT STRUCTURE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528154" y="740515"/>
            <a:ext cx="8615457" cy="8364818"/>
            <a:chOff x="0" y="0"/>
            <a:chExt cx="2269092" cy="22030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69092" cy="2203080"/>
            </a:xfrm>
            <a:custGeom>
              <a:avLst/>
              <a:gdLst/>
              <a:ahLst/>
              <a:cxnLst/>
              <a:rect l="l" t="t" r="r" b="b"/>
              <a:pathLst>
                <a:path w="2269092" h="2203080">
                  <a:moveTo>
                    <a:pt x="28755" y="0"/>
                  </a:moveTo>
                  <a:lnTo>
                    <a:pt x="2240336" y="0"/>
                  </a:lnTo>
                  <a:cubicBezTo>
                    <a:pt x="2256217" y="0"/>
                    <a:pt x="2269092" y="12874"/>
                    <a:pt x="2269092" y="28755"/>
                  </a:cubicBezTo>
                  <a:lnTo>
                    <a:pt x="2269092" y="2174324"/>
                  </a:lnTo>
                  <a:cubicBezTo>
                    <a:pt x="2269092" y="2190205"/>
                    <a:pt x="2256217" y="2203080"/>
                    <a:pt x="2240336" y="2203080"/>
                  </a:cubicBezTo>
                  <a:lnTo>
                    <a:pt x="28755" y="2203080"/>
                  </a:lnTo>
                  <a:cubicBezTo>
                    <a:pt x="12874" y="2203080"/>
                    <a:pt x="0" y="2190205"/>
                    <a:pt x="0" y="2174324"/>
                  </a:cubicBezTo>
                  <a:lnTo>
                    <a:pt x="0" y="28755"/>
                  </a:lnTo>
                  <a:cubicBezTo>
                    <a:pt x="0" y="12874"/>
                    <a:pt x="12874" y="0"/>
                    <a:pt x="28755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269092" cy="22411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4274" y="1714500"/>
            <a:ext cx="15443835" cy="8042894"/>
            <a:chOff x="0" y="0"/>
            <a:chExt cx="4067512" cy="21182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67512" cy="2118293"/>
            </a:xfrm>
            <a:custGeom>
              <a:avLst/>
              <a:gdLst/>
              <a:ahLst/>
              <a:cxnLst/>
              <a:rect l="l" t="t" r="r" b="b"/>
              <a:pathLst>
                <a:path w="4067512" h="2118293">
                  <a:moveTo>
                    <a:pt x="16041" y="0"/>
                  </a:moveTo>
                  <a:lnTo>
                    <a:pt x="4051471" y="0"/>
                  </a:lnTo>
                  <a:cubicBezTo>
                    <a:pt x="4060330" y="0"/>
                    <a:pt x="4067512" y="7182"/>
                    <a:pt x="4067512" y="16041"/>
                  </a:cubicBezTo>
                  <a:lnTo>
                    <a:pt x="4067512" y="2102252"/>
                  </a:lnTo>
                  <a:cubicBezTo>
                    <a:pt x="4067512" y="2111111"/>
                    <a:pt x="4060330" y="2118293"/>
                    <a:pt x="4051471" y="2118293"/>
                  </a:cubicBezTo>
                  <a:lnTo>
                    <a:pt x="16041" y="2118293"/>
                  </a:lnTo>
                  <a:cubicBezTo>
                    <a:pt x="7182" y="2118293"/>
                    <a:pt x="0" y="2111111"/>
                    <a:pt x="0" y="2102252"/>
                  </a:cubicBezTo>
                  <a:lnTo>
                    <a:pt x="0" y="16041"/>
                  </a:lnTo>
                  <a:cubicBezTo>
                    <a:pt x="0" y="7182"/>
                    <a:pt x="7182" y="0"/>
                    <a:pt x="16041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067512" cy="21563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425120" y="1810831"/>
            <a:ext cx="12147361" cy="7850232"/>
          </a:xfrm>
          <a:custGeom>
            <a:avLst/>
            <a:gdLst/>
            <a:ahLst/>
            <a:cxnLst/>
            <a:rect l="l" t="t" r="r" b="b"/>
            <a:pathLst>
              <a:path w="12147361" h="7850232">
                <a:moveTo>
                  <a:pt x="0" y="0"/>
                </a:moveTo>
                <a:lnTo>
                  <a:pt x="12147361" y="0"/>
                </a:lnTo>
                <a:lnTo>
                  <a:pt x="12147361" y="7850232"/>
                </a:lnTo>
                <a:lnTo>
                  <a:pt x="0" y="78502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TextBox 6"/>
          <p:cNvSpPr txBox="1"/>
          <p:nvPr/>
        </p:nvSpPr>
        <p:spPr>
          <a:xfrm>
            <a:off x="449212" y="-133350"/>
            <a:ext cx="10339492" cy="1698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Data layer - ER Schema</a:t>
            </a:r>
          </a:p>
          <a:p>
            <a:pPr algn="l">
              <a:lnSpc>
                <a:spcPts val="4770"/>
              </a:lnSpc>
            </a:pPr>
            <a:r>
              <a:rPr lang="en-US" sz="3407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43953" y="2150099"/>
            <a:ext cx="1539010" cy="1543125"/>
          </a:xfrm>
          <a:custGeom>
            <a:avLst/>
            <a:gdLst/>
            <a:ahLst/>
            <a:cxnLst/>
            <a:rect l="l" t="t" r="r" b="b"/>
            <a:pathLst>
              <a:path w="1539010" h="1543125">
                <a:moveTo>
                  <a:pt x="0" y="0"/>
                </a:moveTo>
                <a:lnTo>
                  <a:pt x="1539010" y="0"/>
                </a:lnTo>
                <a:lnTo>
                  <a:pt x="1539010" y="1543125"/>
                </a:lnTo>
                <a:lnTo>
                  <a:pt x="0" y="15431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5243953" y="4555537"/>
            <a:ext cx="1622925" cy="1627264"/>
          </a:xfrm>
          <a:custGeom>
            <a:avLst/>
            <a:gdLst/>
            <a:ahLst/>
            <a:cxnLst/>
            <a:rect l="l" t="t" r="r" b="b"/>
            <a:pathLst>
              <a:path w="1622925" h="1627264">
                <a:moveTo>
                  <a:pt x="0" y="0"/>
                </a:moveTo>
                <a:lnTo>
                  <a:pt x="1622925" y="0"/>
                </a:lnTo>
                <a:lnTo>
                  <a:pt x="1622925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Freeform 4"/>
          <p:cNvSpPr/>
          <p:nvPr/>
        </p:nvSpPr>
        <p:spPr>
          <a:xfrm>
            <a:off x="5243953" y="7330661"/>
            <a:ext cx="1692441" cy="1696966"/>
          </a:xfrm>
          <a:custGeom>
            <a:avLst/>
            <a:gdLst/>
            <a:ahLst/>
            <a:cxnLst/>
            <a:rect l="l" t="t" r="r" b="b"/>
            <a:pathLst>
              <a:path w="1692441" h="1696966">
                <a:moveTo>
                  <a:pt x="0" y="0"/>
                </a:moveTo>
                <a:lnTo>
                  <a:pt x="1692440" y="0"/>
                </a:lnTo>
                <a:lnTo>
                  <a:pt x="1692440" y="1696966"/>
                </a:lnTo>
                <a:lnTo>
                  <a:pt x="0" y="16969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Freeform 5"/>
          <p:cNvSpPr/>
          <p:nvPr/>
        </p:nvSpPr>
        <p:spPr>
          <a:xfrm>
            <a:off x="12513592" y="4660291"/>
            <a:ext cx="1539302" cy="1522510"/>
          </a:xfrm>
          <a:custGeom>
            <a:avLst/>
            <a:gdLst/>
            <a:ahLst/>
            <a:cxnLst/>
            <a:rect l="l" t="t" r="r" b="b"/>
            <a:pathLst>
              <a:path w="1539302" h="1522510">
                <a:moveTo>
                  <a:pt x="0" y="0"/>
                </a:moveTo>
                <a:lnTo>
                  <a:pt x="1539302" y="0"/>
                </a:lnTo>
                <a:lnTo>
                  <a:pt x="1539302" y="1522510"/>
                </a:lnTo>
                <a:lnTo>
                  <a:pt x="0" y="1522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12513592" y="7523057"/>
            <a:ext cx="1312173" cy="1312173"/>
          </a:xfrm>
          <a:custGeom>
            <a:avLst/>
            <a:gdLst/>
            <a:ahLst/>
            <a:cxnLst/>
            <a:rect l="l" t="t" r="r" b="b"/>
            <a:pathLst>
              <a:path w="1312173" h="1312173">
                <a:moveTo>
                  <a:pt x="0" y="0"/>
                </a:moveTo>
                <a:lnTo>
                  <a:pt x="1312173" y="0"/>
                </a:lnTo>
                <a:lnTo>
                  <a:pt x="1312173" y="1312173"/>
                </a:lnTo>
                <a:lnTo>
                  <a:pt x="0" y="13121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12513592" y="2342372"/>
            <a:ext cx="1824326" cy="1363684"/>
          </a:xfrm>
          <a:custGeom>
            <a:avLst/>
            <a:gdLst/>
            <a:ahLst/>
            <a:cxnLst/>
            <a:rect l="l" t="t" r="r" b="b"/>
            <a:pathLst>
              <a:path w="1824326" h="1363684">
                <a:moveTo>
                  <a:pt x="0" y="0"/>
                </a:moveTo>
                <a:lnTo>
                  <a:pt x="1824326" y="0"/>
                </a:lnTo>
                <a:lnTo>
                  <a:pt x="1824326" y="1363684"/>
                </a:lnTo>
                <a:lnTo>
                  <a:pt x="0" y="1363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TextBox 8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18878" y="5169438"/>
            <a:ext cx="2472922" cy="493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population.sql</a:t>
            </a:r>
            <a:endParaRPr lang="en-US" sz="2999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996908" y="2631149"/>
            <a:ext cx="2087924" cy="493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schema.sql</a:t>
            </a:r>
            <a:endParaRPr lang="en-US" sz="2999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203168" y="7874344"/>
            <a:ext cx="1881664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triggers.sql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0680" y="112809"/>
            <a:ext cx="10339492" cy="1698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Data layer files</a:t>
            </a:r>
          </a:p>
          <a:p>
            <a:pPr algn="l">
              <a:lnSpc>
                <a:spcPts val="4770"/>
              </a:lnSpc>
            </a:pPr>
            <a:r>
              <a:rPr lang="en-US" sz="3407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243237"/>
            <a:ext cx="9135711" cy="7536962"/>
          </a:xfrm>
          <a:custGeom>
            <a:avLst/>
            <a:gdLst/>
            <a:ahLst/>
            <a:cxnLst/>
            <a:rect l="l" t="t" r="r" b="b"/>
            <a:pathLst>
              <a:path w="9135711" h="7536962">
                <a:moveTo>
                  <a:pt x="0" y="0"/>
                </a:moveTo>
                <a:lnTo>
                  <a:pt x="9135711" y="0"/>
                </a:lnTo>
                <a:lnTo>
                  <a:pt x="9135711" y="7536961"/>
                </a:lnTo>
                <a:lnTo>
                  <a:pt x="0" y="75369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1133106" y="2657469"/>
            <a:ext cx="2687559" cy="612206"/>
            <a:chOff x="0" y="0"/>
            <a:chExt cx="707835" cy="1612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07835" cy="161240"/>
            </a:xfrm>
            <a:custGeom>
              <a:avLst/>
              <a:gdLst/>
              <a:ahLst/>
              <a:cxnLst/>
              <a:rect l="l" t="t" r="r" b="b"/>
              <a:pathLst>
                <a:path w="707835" h="161240">
                  <a:moveTo>
                    <a:pt x="0" y="0"/>
                  </a:moveTo>
                  <a:lnTo>
                    <a:pt x="707835" y="0"/>
                  </a:lnTo>
                  <a:lnTo>
                    <a:pt x="707835" y="161240"/>
                  </a:lnTo>
                  <a:lnTo>
                    <a:pt x="0" y="161240"/>
                  </a:lnTo>
                  <a:close/>
                </a:path>
              </a:pathLst>
            </a:custGeom>
            <a:ln w="57150" cap="sq">
              <a:solidFill>
                <a:srgbClr val="A42D33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07835" cy="199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33106" y="6578900"/>
            <a:ext cx="2178020" cy="633007"/>
            <a:chOff x="0" y="0"/>
            <a:chExt cx="573635" cy="1667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3635" cy="166718"/>
            </a:xfrm>
            <a:custGeom>
              <a:avLst/>
              <a:gdLst/>
              <a:ahLst/>
              <a:cxnLst/>
              <a:rect l="l" t="t" r="r" b="b"/>
              <a:pathLst>
                <a:path w="573635" h="166718">
                  <a:moveTo>
                    <a:pt x="0" y="0"/>
                  </a:moveTo>
                  <a:lnTo>
                    <a:pt x="573635" y="0"/>
                  </a:lnTo>
                  <a:lnTo>
                    <a:pt x="573635" y="166718"/>
                  </a:lnTo>
                  <a:lnTo>
                    <a:pt x="0" y="166718"/>
                  </a:lnTo>
                  <a:close/>
                </a:path>
              </a:pathLst>
            </a:custGeom>
            <a:ln w="57150" cap="sq">
              <a:solidFill>
                <a:srgbClr val="A42D33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73635" cy="204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231366" y="2517904"/>
            <a:ext cx="2296523" cy="2625596"/>
            <a:chOff x="0" y="0"/>
            <a:chExt cx="3062031" cy="3500795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3062031" cy="3500795"/>
              <a:chOff x="0" y="0"/>
              <a:chExt cx="1003025" cy="11467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003025" cy="1146750"/>
              </a:xfrm>
              <a:custGeom>
                <a:avLst/>
                <a:gdLst/>
                <a:ahLst/>
                <a:cxnLst/>
                <a:rect l="l" t="t" r="r" b="b"/>
                <a:pathLst>
                  <a:path w="1003025" h="1146750">
                    <a:moveTo>
                      <a:pt x="91479" y="0"/>
                    </a:moveTo>
                    <a:lnTo>
                      <a:pt x="911545" y="0"/>
                    </a:lnTo>
                    <a:cubicBezTo>
                      <a:pt x="935807" y="0"/>
                      <a:pt x="959075" y="9638"/>
                      <a:pt x="976231" y="26794"/>
                    </a:cubicBezTo>
                    <a:cubicBezTo>
                      <a:pt x="993387" y="43949"/>
                      <a:pt x="1003025" y="67218"/>
                      <a:pt x="1003025" y="91479"/>
                    </a:cubicBezTo>
                    <a:lnTo>
                      <a:pt x="1003025" y="1055270"/>
                    </a:lnTo>
                    <a:cubicBezTo>
                      <a:pt x="1003025" y="1079532"/>
                      <a:pt x="993387" y="1102800"/>
                      <a:pt x="976231" y="1119956"/>
                    </a:cubicBezTo>
                    <a:cubicBezTo>
                      <a:pt x="959075" y="1137112"/>
                      <a:pt x="935807" y="1146750"/>
                      <a:pt x="911545" y="1146750"/>
                    </a:cubicBezTo>
                    <a:lnTo>
                      <a:pt x="91479" y="1146750"/>
                    </a:lnTo>
                    <a:cubicBezTo>
                      <a:pt x="67218" y="1146750"/>
                      <a:pt x="43949" y="1137112"/>
                      <a:pt x="26794" y="1119956"/>
                    </a:cubicBezTo>
                    <a:cubicBezTo>
                      <a:pt x="9638" y="1102800"/>
                      <a:pt x="0" y="1079532"/>
                      <a:pt x="0" y="1055270"/>
                    </a:cubicBezTo>
                    <a:lnTo>
                      <a:pt x="0" y="91479"/>
                    </a:lnTo>
                    <a:cubicBezTo>
                      <a:pt x="0" y="67218"/>
                      <a:pt x="9638" y="43949"/>
                      <a:pt x="26794" y="26794"/>
                    </a:cubicBezTo>
                    <a:cubicBezTo>
                      <a:pt x="43949" y="9638"/>
                      <a:pt x="67218" y="0"/>
                      <a:pt x="91479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003025" cy="118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297039" y="442307"/>
              <a:ext cx="2411278" cy="2693136"/>
              <a:chOff x="0" y="0"/>
              <a:chExt cx="789859" cy="88218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789859" cy="882186"/>
              </a:xfrm>
              <a:custGeom>
                <a:avLst/>
                <a:gdLst/>
                <a:ahLst/>
                <a:cxnLst/>
                <a:rect l="l" t="t" r="r" b="b"/>
                <a:pathLst>
                  <a:path w="789859" h="882186">
                    <a:moveTo>
                      <a:pt x="116168" y="0"/>
                    </a:moveTo>
                    <a:lnTo>
                      <a:pt x="673691" y="0"/>
                    </a:lnTo>
                    <a:cubicBezTo>
                      <a:pt x="704501" y="0"/>
                      <a:pt x="734048" y="12239"/>
                      <a:pt x="755834" y="34025"/>
                    </a:cubicBezTo>
                    <a:cubicBezTo>
                      <a:pt x="777620" y="55810"/>
                      <a:pt x="789859" y="85358"/>
                      <a:pt x="789859" y="116168"/>
                    </a:cubicBezTo>
                    <a:lnTo>
                      <a:pt x="789859" y="766019"/>
                    </a:lnTo>
                    <a:cubicBezTo>
                      <a:pt x="789859" y="796828"/>
                      <a:pt x="777620" y="826376"/>
                      <a:pt x="755834" y="848162"/>
                    </a:cubicBezTo>
                    <a:cubicBezTo>
                      <a:pt x="734048" y="869947"/>
                      <a:pt x="704501" y="882186"/>
                      <a:pt x="673691" y="882186"/>
                    </a:cubicBezTo>
                    <a:lnTo>
                      <a:pt x="116168" y="882186"/>
                    </a:lnTo>
                    <a:cubicBezTo>
                      <a:pt x="85358" y="882186"/>
                      <a:pt x="55810" y="869947"/>
                      <a:pt x="34025" y="848162"/>
                    </a:cubicBezTo>
                    <a:cubicBezTo>
                      <a:pt x="12239" y="826376"/>
                      <a:pt x="0" y="796828"/>
                      <a:pt x="0" y="766019"/>
                    </a:cubicBezTo>
                    <a:lnTo>
                      <a:pt x="0" y="116168"/>
                    </a:lnTo>
                    <a:cubicBezTo>
                      <a:pt x="0" y="85358"/>
                      <a:pt x="12239" y="55810"/>
                      <a:pt x="34025" y="34025"/>
                    </a:cubicBezTo>
                    <a:cubicBezTo>
                      <a:pt x="55810" y="12239"/>
                      <a:pt x="85358" y="0"/>
                      <a:pt x="116168" y="0"/>
                    </a:cubicBezTo>
                    <a:close/>
                  </a:path>
                </a:pathLst>
              </a:custGeom>
              <a:solidFill>
                <a:srgbClr val="88AF54">
                  <a:alpha val="64706"/>
                </a:srgbClr>
              </a:solidFill>
              <a:ln w="38100" cap="rnd">
                <a:solidFill>
                  <a:srgbClr val="000000">
                    <a:alpha val="64706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789859" cy="920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447766" y="1002023"/>
              <a:ext cx="2109824" cy="1496749"/>
            </a:xfrm>
            <a:custGeom>
              <a:avLst/>
              <a:gdLst/>
              <a:ahLst/>
              <a:cxnLst/>
              <a:rect l="l" t="t" r="r" b="b"/>
              <a:pathLst>
                <a:path w="2109824" h="1496749">
                  <a:moveTo>
                    <a:pt x="0" y="0"/>
                  </a:moveTo>
                  <a:lnTo>
                    <a:pt x="2109824" y="0"/>
                  </a:lnTo>
                  <a:lnTo>
                    <a:pt x="2109824" y="1496749"/>
                  </a:lnTo>
                  <a:lnTo>
                    <a:pt x="0" y="1496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24136" y="102052"/>
              <a:ext cx="1157085" cy="248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04"/>
                </a:lnSpc>
                <a:spcBef>
                  <a:spcPct val="0"/>
                </a:spcBef>
              </a:pPr>
              <a:r>
                <a:rPr lang="en-US" sz="114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Service: WEB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85442" y="2709248"/>
              <a:ext cx="891148" cy="248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04"/>
                </a:lnSpc>
                <a:spcBef>
                  <a:spcPct val="0"/>
                </a:spcBef>
              </a:pPr>
              <a:r>
                <a:rPr lang="en-US" sz="114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Container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</a:p>
        </p:txBody>
      </p:sp>
      <p:sp>
        <p:nvSpPr>
          <p:cNvPr id="20" name="Freeform 20"/>
          <p:cNvSpPr/>
          <p:nvPr/>
        </p:nvSpPr>
        <p:spPr>
          <a:xfrm>
            <a:off x="8777564" y="345920"/>
            <a:ext cx="1386848" cy="1185755"/>
          </a:xfrm>
          <a:custGeom>
            <a:avLst/>
            <a:gdLst/>
            <a:ahLst/>
            <a:cxnLst/>
            <a:rect l="l" t="t" r="r" b="b"/>
            <a:pathLst>
              <a:path w="1386848" h="1185755">
                <a:moveTo>
                  <a:pt x="0" y="0"/>
                </a:moveTo>
                <a:lnTo>
                  <a:pt x="1386847" y="0"/>
                </a:lnTo>
                <a:lnTo>
                  <a:pt x="1386847" y="1185755"/>
                </a:lnTo>
                <a:lnTo>
                  <a:pt x="0" y="11857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21" name="Group 21"/>
          <p:cNvGrpSpPr/>
          <p:nvPr/>
        </p:nvGrpSpPr>
        <p:grpSpPr>
          <a:xfrm>
            <a:off x="3820665" y="7831067"/>
            <a:ext cx="1312378" cy="428812"/>
            <a:chOff x="0" y="0"/>
            <a:chExt cx="1243786" cy="406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43786" cy="406400"/>
            </a:xfrm>
            <a:custGeom>
              <a:avLst/>
              <a:gdLst/>
              <a:ahLst/>
              <a:cxnLst/>
              <a:rect l="l" t="t" r="r" b="b"/>
              <a:pathLst>
                <a:path w="1243786" h="406400">
                  <a:moveTo>
                    <a:pt x="1040586" y="0"/>
                  </a:moveTo>
                  <a:cubicBezTo>
                    <a:pt x="1152810" y="0"/>
                    <a:pt x="1243786" y="90976"/>
                    <a:pt x="1243786" y="203200"/>
                  </a:cubicBezTo>
                  <a:cubicBezTo>
                    <a:pt x="1243786" y="315424"/>
                    <a:pt x="1152810" y="406400"/>
                    <a:pt x="104058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E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243786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236065" y="6201946"/>
            <a:ext cx="2508902" cy="2868407"/>
            <a:chOff x="0" y="0"/>
            <a:chExt cx="3345202" cy="3824542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3345202" cy="3824542"/>
              <a:chOff x="0" y="0"/>
              <a:chExt cx="1003025" cy="11467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003025" cy="1146750"/>
              </a:xfrm>
              <a:custGeom>
                <a:avLst/>
                <a:gdLst/>
                <a:ahLst/>
                <a:cxnLst/>
                <a:rect l="l" t="t" r="r" b="b"/>
                <a:pathLst>
                  <a:path w="1003025" h="1146750">
                    <a:moveTo>
                      <a:pt x="91479" y="0"/>
                    </a:moveTo>
                    <a:lnTo>
                      <a:pt x="911545" y="0"/>
                    </a:lnTo>
                    <a:cubicBezTo>
                      <a:pt x="935807" y="0"/>
                      <a:pt x="959075" y="9638"/>
                      <a:pt x="976231" y="26794"/>
                    </a:cubicBezTo>
                    <a:cubicBezTo>
                      <a:pt x="993387" y="43949"/>
                      <a:pt x="1003025" y="67218"/>
                      <a:pt x="1003025" y="91479"/>
                    </a:cubicBezTo>
                    <a:lnTo>
                      <a:pt x="1003025" y="1055270"/>
                    </a:lnTo>
                    <a:cubicBezTo>
                      <a:pt x="1003025" y="1079532"/>
                      <a:pt x="993387" y="1102800"/>
                      <a:pt x="976231" y="1119956"/>
                    </a:cubicBezTo>
                    <a:cubicBezTo>
                      <a:pt x="959075" y="1137112"/>
                      <a:pt x="935807" y="1146750"/>
                      <a:pt x="911545" y="1146750"/>
                    </a:cubicBezTo>
                    <a:lnTo>
                      <a:pt x="91479" y="1146750"/>
                    </a:lnTo>
                    <a:cubicBezTo>
                      <a:pt x="67218" y="1146750"/>
                      <a:pt x="43949" y="1137112"/>
                      <a:pt x="26794" y="1119956"/>
                    </a:cubicBezTo>
                    <a:cubicBezTo>
                      <a:pt x="9638" y="1102800"/>
                      <a:pt x="0" y="1079532"/>
                      <a:pt x="0" y="1055270"/>
                    </a:cubicBezTo>
                    <a:lnTo>
                      <a:pt x="0" y="91479"/>
                    </a:lnTo>
                    <a:cubicBezTo>
                      <a:pt x="0" y="67218"/>
                      <a:pt x="9638" y="43949"/>
                      <a:pt x="26794" y="26794"/>
                    </a:cubicBezTo>
                    <a:cubicBezTo>
                      <a:pt x="43949" y="9638"/>
                      <a:pt x="67218" y="0"/>
                      <a:pt x="91479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003025" cy="118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324509" y="483211"/>
              <a:ext cx="2634269" cy="2942193"/>
              <a:chOff x="0" y="0"/>
              <a:chExt cx="789859" cy="88218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789859" cy="882186"/>
              </a:xfrm>
              <a:custGeom>
                <a:avLst/>
                <a:gdLst/>
                <a:ahLst/>
                <a:cxnLst/>
                <a:rect l="l" t="t" r="r" b="b"/>
                <a:pathLst>
                  <a:path w="789859" h="882186">
                    <a:moveTo>
                      <a:pt x="116168" y="0"/>
                    </a:moveTo>
                    <a:lnTo>
                      <a:pt x="673691" y="0"/>
                    </a:lnTo>
                    <a:cubicBezTo>
                      <a:pt x="704501" y="0"/>
                      <a:pt x="734048" y="12239"/>
                      <a:pt x="755834" y="34025"/>
                    </a:cubicBezTo>
                    <a:cubicBezTo>
                      <a:pt x="777620" y="55810"/>
                      <a:pt x="789859" y="85358"/>
                      <a:pt x="789859" y="116168"/>
                    </a:cubicBezTo>
                    <a:lnTo>
                      <a:pt x="789859" y="766019"/>
                    </a:lnTo>
                    <a:cubicBezTo>
                      <a:pt x="789859" y="796828"/>
                      <a:pt x="777620" y="826376"/>
                      <a:pt x="755834" y="848162"/>
                    </a:cubicBezTo>
                    <a:cubicBezTo>
                      <a:pt x="734048" y="869947"/>
                      <a:pt x="704501" y="882186"/>
                      <a:pt x="673691" y="882186"/>
                    </a:cubicBezTo>
                    <a:lnTo>
                      <a:pt x="116168" y="882186"/>
                    </a:lnTo>
                    <a:cubicBezTo>
                      <a:pt x="85358" y="882186"/>
                      <a:pt x="55810" y="869947"/>
                      <a:pt x="34025" y="848162"/>
                    </a:cubicBezTo>
                    <a:cubicBezTo>
                      <a:pt x="12239" y="826376"/>
                      <a:pt x="0" y="796828"/>
                      <a:pt x="0" y="766019"/>
                    </a:cubicBezTo>
                    <a:lnTo>
                      <a:pt x="0" y="116168"/>
                    </a:lnTo>
                    <a:cubicBezTo>
                      <a:pt x="0" y="85358"/>
                      <a:pt x="12239" y="55810"/>
                      <a:pt x="34025" y="34025"/>
                    </a:cubicBezTo>
                    <a:cubicBezTo>
                      <a:pt x="55810" y="12239"/>
                      <a:pt x="85358" y="0"/>
                      <a:pt x="116168" y="0"/>
                    </a:cubicBezTo>
                    <a:close/>
                  </a:path>
                </a:pathLst>
              </a:custGeom>
              <a:solidFill>
                <a:srgbClr val="B3DDFD">
                  <a:alpha val="64706"/>
                </a:srgbClr>
              </a:solidFill>
              <a:ln w="38100" cap="rnd">
                <a:solidFill>
                  <a:srgbClr val="000000">
                    <a:alpha val="64706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789859" cy="920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009598" y="103727"/>
              <a:ext cx="1264090" cy="2790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52"/>
                </a:lnSpc>
                <a:spcBef>
                  <a:spcPct val="0"/>
                </a:spcBef>
              </a:pPr>
              <a:r>
                <a:rPr lang="en-US" sz="125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Service: db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85821" y="2952031"/>
              <a:ext cx="973560" cy="2790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52"/>
                </a:lnSpc>
                <a:spcBef>
                  <a:spcPct val="0"/>
                </a:spcBef>
              </a:pPr>
              <a:r>
                <a:rPr lang="en-US" sz="125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Container</a:t>
              </a:r>
            </a:p>
          </p:txBody>
        </p:sp>
      </p:grpSp>
      <p:sp>
        <p:nvSpPr>
          <p:cNvPr id="33" name="Freeform 33"/>
          <p:cNvSpPr/>
          <p:nvPr/>
        </p:nvSpPr>
        <p:spPr>
          <a:xfrm>
            <a:off x="13819175" y="6908757"/>
            <a:ext cx="1342681" cy="1384207"/>
          </a:xfrm>
          <a:custGeom>
            <a:avLst/>
            <a:gdLst/>
            <a:ahLst/>
            <a:cxnLst/>
            <a:rect l="l" t="t" r="r" b="b"/>
            <a:pathLst>
              <a:path w="1342681" h="1384207">
                <a:moveTo>
                  <a:pt x="0" y="0"/>
                </a:moveTo>
                <a:lnTo>
                  <a:pt x="1342681" y="0"/>
                </a:lnTo>
                <a:lnTo>
                  <a:pt x="1342681" y="1384207"/>
                </a:lnTo>
                <a:lnTo>
                  <a:pt x="0" y="13842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4" name="TextBox 34"/>
          <p:cNvSpPr txBox="1"/>
          <p:nvPr/>
        </p:nvSpPr>
        <p:spPr>
          <a:xfrm>
            <a:off x="493111" y="-133350"/>
            <a:ext cx="10339492" cy="1698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Containerization</a:t>
            </a:r>
          </a:p>
          <a:p>
            <a:pPr algn="l">
              <a:lnSpc>
                <a:spcPts val="4770"/>
              </a:lnSpc>
            </a:pPr>
            <a:r>
              <a:rPr lang="en-US" sz="3407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31366" y="2488028"/>
            <a:ext cx="2322654" cy="2655472"/>
            <a:chOff x="0" y="0"/>
            <a:chExt cx="3096873" cy="354062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3096873" cy="3540629"/>
              <a:chOff x="0" y="0"/>
              <a:chExt cx="1003025" cy="11467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003025" cy="1146750"/>
              </a:xfrm>
              <a:custGeom>
                <a:avLst/>
                <a:gdLst/>
                <a:ahLst/>
                <a:cxnLst/>
                <a:rect l="l" t="t" r="r" b="b"/>
                <a:pathLst>
                  <a:path w="1003025" h="1146750">
                    <a:moveTo>
                      <a:pt x="91479" y="0"/>
                    </a:moveTo>
                    <a:lnTo>
                      <a:pt x="911545" y="0"/>
                    </a:lnTo>
                    <a:cubicBezTo>
                      <a:pt x="935807" y="0"/>
                      <a:pt x="959075" y="9638"/>
                      <a:pt x="976231" y="26794"/>
                    </a:cubicBezTo>
                    <a:cubicBezTo>
                      <a:pt x="993387" y="43949"/>
                      <a:pt x="1003025" y="67218"/>
                      <a:pt x="1003025" y="91479"/>
                    </a:cubicBezTo>
                    <a:lnTo>
                      <a:pt x="1003025" y="1055270"/>
                    </a:lnTo>
                    <a:cubicBezTo>
                      <a:pt x="1003025" y="1079532"/>
                      <a:pt x="993387" y="1102800"/>
                      <a:pt x="976231" y="1119956"/>
                    </a:cubicBezTo>
                    <a:cubicBezTo>
                      <a:pt x="959075" y="1137112"/>
                      <a:pt x="935807" y="1146750"/>
                      <a:pt x="911545" y="1146750"/>
                    </a:cubicBezTo>
                    <a:lnTo>
                      <a:pt x="91479" y="1146750"/>
                    </a:lnTo>
                    <a:cubicBezTo>
                      <a:pt x="67218" y="1146750"/>
                      <a:pt x="43949" y="1137112"/>
                      <a:pt x="26794" y="1119956"/>
                    </a:cubicBezTo>
                    <a:cubicBezTo>
                      <a:pt x="9638" y="1102800"/>
                      <a:pt x="0" y="1079532"/>
                      <a:pt x="0" y="1055270"/>
                    </a:cubicBezTo>
                    <a:lnTo>
                      <a:pt x="0" y="91479"/>
                    </a:lnTo>
                    <a:cubicBezTo>
                      <a:pt x="0" y="67218"/>
                      <a:pt x="9638" y="43949"/>
                      <a:pt x="26794" y="26794"/>
                    </a:cubicBezTo>
                    <a:cubicBezTo>
                      <a:pt x="43949" y="9638"/>
                      <a:pt x="67218" y="0"/>
                      <a:pt x="91479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003025" cy="118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300419" y="447340"/>
              <a:ext cx="2438715" cy="2723780"/>
              <a:chOff x="0" y="0"/>
              <a:chExt cx="789859" cy="88218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9859" cy="882186"/>
              </a:xfrm>
              <a:custGeom>
                <a:avLst/>
                <a:gdLst/>
                <a:ahLst/>
                <a:cxnLst/>
                <a:rect l="l" t="t" r="r" b="b"/>
                <a:pathLst>
                  <a:path w="789859" h="882186">
                    <a:moveTo>
                      <a:pt x="116168" y="0"/>
                    </a:moveTo>
                    <a:lnTo>
                      <a:pt x="673691" y="0"/>
                    </a:lnTo>
                    <a:cubicBezTo>
                      <a:pt x="704501" y="0"/>
                      <a:pt x="734048" y="12239"/>
                      <a:pt x="755834" y="34025"/>
                    </a:cubicBezTo>
                    <a:cubicBezTo>
                      <a:pt x="777620" y="55810"/>
                      <a:pt x="789859" y="85358"/>
                      <a:pt x="789859" y="116168"/>
                    </a:cubicBezTo>
                    <a:lnTo>
                      <a:pt x="789859" y="766019"/>
                    </a:lnTo>
                    <a:cubicBezTo>
                      <a:pt x="789859" y="796828"/>
                      <a:pt x="777620" y="826376"/>
                      <a:pt x="755834" y="848162"/>
                    </a:cubicBezTo>
                    <a:cubicBezTo>
                      <a:pt x="734048" y="869947"/>
                      <a:pt x="704501" y="882186"/>
                      <a:pt x="673691" y="882186"/>
                    </a:cubicBezTo>
                    <a:lnTo>
                      <a:pt x="116168" y="882186"/>
                    </a:lnTo>
                    <a:cubicBezTo>
                      <a:pt x="85358" y="882186"/>
                      <a:pt x="55810" y="869947"/>
                      <a:pt x="34025" y="848162"/>
                    </a:cubicBezTo>
                    <a:cubicBezTo>
                      <a:pt x="12239" y="826376"/>
                      <a:pt x="0" y="796828"/>
                      <a:pt x="0" y="766019"/>
                    </a:cubicBezTo>
                    <a:lnTo>
                      <a:pt x="0" y="116168"/>
                    </a:lnTo>
                    <a:cubicBezTo>
                      <a:pt x="0" y="85358"/>
                      <a:pt x="12239" y="55810"/>
                      <a:pt x="34025" y="34025"/>
                    </a:cubicBezTo>
                    <a:cubicBezTo>
                      <a:pt x="55810" y="12239"/>
                      <a:pt x="85358" y="0"/>
                      <a:pt x="116168" y="0"/>
                    </a:cubicBezTo>
                    <a:close/>
                  </a:path>
                </a:pathLst>
              </a:custGeom>
              <a:solidFill>
                <a:srgbClr val="88AF54">
                  <a:alpha val="64706"/>
                </a:srgbClr>
              </a:solidFill>
              <a:ln w="38100" cap="rnd">
                <a:solidFill>
                  <a:srgbClr val="000000">
                    <a:alpha val="64706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789859" cy="920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452861" y="1013425"/>
              <a:ext cx="2133831" cy="1513780"/>
            </a:xfrm>
            <a:custGeom>
              <a:avLst/>
              <a:gdLst/>
              <a:ahLst/>
              <a:cxnLst/>
              <a:rect l="l" t="t" r="r" b="b"/>
              <a:pathLst>
                <a:path w="2133831" h="1513780">
                  <a:moveTo>
                    <a:pt x="0" y="0"/>
                  </a:moveTo>
                  <a:lnTo>
                    <a:pt x="2133831" y="0"/>
                  </a:lnTo>
                  <a:lnTo>
                    <a:pt x="2133831" y="1513780"/>
                  </a:lnTo>
                  <a:lnTo>
                    <a:pt x="0" y="1513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4651" y="103430"/>
              <a:ext cx="1170251" cy="2508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22"/>
                </a:lnSpc>
                <a:spcBef>
                  <a:spcPct val="0"/>
                </a:spcBef>
              </a:pPr>
              <a:r>
                <a:rPr lang="en-US" sz="115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Service: WEB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7792" y="2740292"/>
              <a:ext cx="901288" cy="2508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22"/>
                </a:lnSpc>
                <a:spcBef>
                  <a:spcPct val="0"/>
                </a:spcBef>
              </a:pPr>
              <a:r>
                <a:rPr lang="en-US" sz="115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Container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236065" y="6201946"/>
            <a:ext cx="2508902" cy="2868407"/>
            <a:chOff x="0" y="0"/>
            <a:chExt cx="3345202" cy="3824542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3345202" cy="3824542"/>
              <a:chOff x="0" y="0"/>
              <a:chExt cx="1003025" cy="114675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003025" cy="1146750"/>
              </a:xfrm>
              <a:custGeom>
                <a:avLst/>
                <a:gdLst/>
                <a:ahLst/>
                <a:cxnLst/>
                <a:rect l="l" t="t" r="r" b="b"/>
                <a:pathLst>
                  <a:path w="1003025" h="1146750">
                    <a:moveTo>
                      <a:pt x="91479" y="0"/>
                    </a:moveTo>
                    <a:lnTo>
                      <a:pt x="911545" y="0"/>
                    </a:lnTo>
                    <a:cubicBezTo>
                      <a:pt x="935807" y="0"/>
                      <a:pt x="959075" y="9638"/>
                      <a:pt x="976231" y="26794"/>
                    </a:cubicBezTo>
                    <a:cubicBezTo>
                      <a:pt x="993387" y="43949"/>
                      <a:pt x="1003025" y="67218"/>
                      <a:pt x="1003025" y="91479"/>
                    </a:cubicBezTo>
                    <a:lnTo>
                      <a:pt x="1003025" y="1055270"/>
                    </a:lnTo>
                    <a:cubicBezTo>
                      <a:pt x="1003025" y="1079532"/>
                      <a:pt x="993387" y="1102800"/>
                      <a:pt x="976231" y="1119956"/>
                    </a:cubicBezTo>
                    <a:cubicBezTo>
                      <a:pt x="959075" y="1137112"/>
                      <a:pt x="935807" y="1146750"/>
                      <a:pt x="911545" y="1146750"/>
                    </a:cubicBezTo>
                    <a:lnTo>
                      <a:pt x="91479" y="1146750"/>
                    </a:lnTo>
                    <a:cubicBezTo>
                      <a:pt x="67218" y="1146750"/>
                      <a:pt x="43949" y="1137112"/>
                      <a:pt x="26794" y="1119956"/>
                    </a:cubicBezTo>
                    <a:cubicBezTo>
                      <a:pt x="9638" y="1102800"/>
                      <a:pt x="0" y="1079532"/>
                      <a:pt x="0" y="1055270"/>
                    </a:cubicBezTo>
                    <a:lnTo>
                      <a:pt x="0" y="91479"/>
                    </a:lnTo>
                    <a:cubicBezTo>
                      <a:pt x="0" y="67218"/>
                      <a:pt x="9638" y="43949"/>
                      <a:pt x="26794" y="26794"/>
                    </a:cubicBezTo>
                    <a:cubicBezTo>
                      <a:pt x="43949" y="9638"/>
                      <a:pt x="67218" y="0"/>
                      <a:pt x="91479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003025" cy="118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324509" y="483211"/>
              <a:ext cx="2634269" cy="2942193"/>
              <a:chOff x="0" y="0"/>
              <a:chExt cx="789859" cy="88218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789859" cy="882186"/>
              </a:xfrm>
              <a:custGeom>
                <a:avLst/>
                <a:gdLst/>
                <a:ahLst/>
                <a:cxnLst/>
                <a:rect l="l" t="t" r="r" b="b"/>
                <a:pathLst>
                  <a:path w="789859" h="882186">
                    <a:moveTo>
                      <a:pt x="116168" y="0"/>
                    </a:moveTo>
                    <a:lnTo>
                      <a:pt x="673691" y="0"/>
                    </a:lnTo>
                    <a:cubicBezTo>
                      <a:pt x="704501" y="0"/>
                      <a:pt x="734048" y="12239"/>
                      <a:pt x="755834" y="34025"/>
                    </a:cubicBezTo>
                    <a:cubicBezTo>
                      <a:pt x="777620" y="55810"/>
                      <a:pt x="789859" y="85358"/>
                      <a:pt x="789859" y="116168"/>
                    </a:cubicBezTo>
                    <a:lnTo>
                      <a:pt x="789859" y="766019"/>
                    </a:lnTo>
                    <a:cubicBezTo>
                      <a:pt x="789859" y="796828"/>
                      <a:pt x="777620" y="826376"/>
                      <a:pt x="755834" y="848162"/>
                    </a:cubicBezTo>
                    <a:cubicBezTo>
                      <a:pt x="734048" y="869947"/>
                      <a:pt x="704501" y="882186"/>
                      <a:pt x="673691" y="882186"/>
                    </a:cubicBezTo>
                    <a:lnTo>
                      <a:pt x="116168" y="882186"/>
                    </a:lnTo>
                    <a:cubicBezTo>
                      <a:pt x="85358" y="882186"/>
                      <a:pt x="55810" y="869947"/>
                      <a:pt x="34025" y="848162"/>
                    </a:cubicBezTo>
                    <a:cubicBezTo>
                      <a:pt x="12239" y="826376"/>
                      <a:pt x="0" y="796828"/>
                      <a:pt x="0" y="766019"/>
                    </a:cubicBezTo>
                    <a:lnTo>
                      <a:pt x="0" y="116168"/>
                    </a:lnTo>
                    <a:cubicBezTo>
                      <a:pt x="0" y="85358"/>
                      <a:pt x="12239" y="55810"/>
                      <a:pt x="34025" y="34025"/>
                    </a:cubicBezTo>
                    <a:cubicBezTo>
                      <a:pt x="55810" y="12239"/>
                      <a:pt x="85358" y="0"/>
                      <a:pt x="116168" y="0"/>
                    </a:cubicBezTo>
                    <a:close/>
                  </a:path>
                </a:pathLst>
              </a:custGeom>
              <a:solidFill>
                <a:srgbClr val="B3DDFD">
                  <a:alpha val="64706"/>
                </a:srgbClr>
              </a:solidFill>
              <a:ln w="38100" cap="rnd">
                <a:solidFill>
                  <a:srgbClr val="000000">
                    <a:alpha val="64706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789859" cy="920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1009598" y="103727"/>
              <a:ext cx="1264090" cy="2790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52"/>
                </a:lnSpc>
                <a:spcBef>
                  <a:spcPct val="0"/>
                </a:spcBef>
              </a:pPr>
              <a:r>
                <a:rPr lang="en-US" sz="125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Service: db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85821" y="2952031"/>
              <a:ext cx="973560" cy="2790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52"/>
                </a:lnSpc>
                <a:spcBef>
                  <a:spcPct val="0"/>
                </a:spcBef>
              </a:pPr>
              <a:r>
                <a:rPr lang="en-US" sz="125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Container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2542084" y="7221164"/>
            <a:ext cx="3808316" cy="1086307"/>
          </a:xfrm>
          <a:custGeom>
            <a:avLst/>
            <a:gdLst/>
            <a:ahLst/>
            <a:cxnLst/>
            <a:rect l="l" t="t" r="r" b="b"/>
            <a:pathLst>
              <a:path w="3808316" h="1086307">
                <a:moveTo>
                  <a:pt x="0" y="0"/>
                </a:moveTo>
                <a:lnTo>
                  <a:pt x="3808316" y="0"/>
                </a:lnTo>
                <a:lnTo>
                  <a:pt x="3808316" y="1086307"/>
                </a:lnTo>
                <a:lnTo>
                  <a:pt x="0" y="10863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2" name="Freeform 22"/>
          <p:cNvSpPr/>
          <p:nvPr/>
        </p:nvSpPr>
        <p:spPr>
          <a:xfrm>
            <a:off x="2542084" y="3522629"/>
            <a:ext cx="4051921" cy="915434"/>
          </a:xfrm>
          <a:custGeom>
            <a:avLst/>
            <a:gdLst/>
            <a:ahLst/>
            <a:cxnLst/>
            <a:rect l="l" t="t" r="r" b="b"/>
            <a:pathLst>
              <a:path w="4051921" h="915434">
                <a:moveTo>
                  <a:pt x="0" y="0"/>
                </a:moveTo>
                <a:lnTo>
                  <a:pt x="4051921" y="0"/>
                </a:lnTo>
                <a:lnTo>
                  <a:pt x="4051921" y="915434"/>
                </a:lnTo>
                <a:lnTo>
                  <a:pt x="0" y="9154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3" name="AutoShape 23"/>
          <p:cNvSpPr/>
          <p:nvPr/>
        </p:nvSpPr>
        <p:spPr>
          <a:xfrm flipV="1">
            <a:off x="7867464" y="3980346"/>
            <a:ext cx="4759006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24" name="AutoShape 24"/>
          <p:cNvSpPr/>
          <p:nvPr/>
        </p:nvSpPr>
        <p:spPr>
          <a:xfrm flipV="1">
            <a:off x="7953108" y="7745267"/>
            <a:ext cx="4759006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25" name="Freeform 25"/>
          <p:cNvSpPr/>
          <p:nvPr/>
        </p:nvSpPr>
        <p:spPr>
          <a:xfrm>
            <a:off x="8836095" y="345920"/>
            <a:ext cx="1386848" cy="1185755"/>
          </a:xfrm>
          <a:custGeom>
            <a:avLst/>
            <a:gdLst/>
            <a:ahLst/>
            <a:cxnLst/>
            <a:rect l="l" t="t" r="r" b="b"/>
            <a:pathLst>
              <a:path w="1386848" h="1185755">
                <a:moveTo>
                  <a:pt x="0" y="0"/>
                </a:moveTo>
                <a:lnTo>
                  <a:pt x="1386848" y="0"/>
                </a:lnTo>
                <a:lnTo>
                  <a:pt x="1386848" y="1185755"/>
                </a:lnTo>
                <a:lnTo>
                  <a:pt x="0" y="11857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6" name="Freeform 26"/>
          <p:cNvSpPr/>
          <p:nvPr/>
        </p:nvSpPr>
        <p:spPr>
          <a:xfrm>
            <a:off x="13819175" y="6908757"/>
            <a:ext cx="1342681" cy="1384207"/>
          </a:xfrm>
          <a:custGeom>
            <a:avLst/>
            <a:gdLst/>
            <a:ahLst/>
            <a:cxnLst/>
            <a:rect l="l" t="t" r="r" b="b"/>
            <a:pathLst>
              <a:path w="1342681" h="1384207">
                <a:moveTo>
                  <a:pt x="0" y="0"/>
                </a:moveTo>
                <a:lnTo>
                  <a:pt x="1342681" y="0"/>
                </a:lnTo>
                <a:lnTo>
                  <a:pt x="1342681" y="1384207"/>
                </a:lnTo>
                <a:lnTo>
                  <a:pt x="0" y="13842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7" name="TextBox 27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93111" y="-133350"/>
            <a:ext cx="10339492" cy="1698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Containerization</a:t>
            </a:r>
          </a:p>
          <a:p>
            <a:pPr algn="l">
              <a:lnSpc>
                <a:spcPts val="4770"/>
              </a:lnSpc>
            </a:pPr>
            <a:r>
              <a:rPr lang="en-US" sz="3407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6632" y="1970151"/>
            <a:ext cx="9135711" cy="7536962"/>
          </a:xfrm>
          <a:custGeom>
            <a:avLst/>
            <a:gdLst/>
            <a:ahLst/>
            <a:cxnLst/>
            <a:rect l="l" t="t" r="r" b="b"/>
            <a:pathLst>
              <a:path w="9135711" h="7536962">
                <a:moveTo>
                  <a:pt x="0" y="0"/>
                </a:moveTo>
                <a:lnTo>
                  <a:pt x="9135711" y="0"/>
                </a:lnTo>
                <a:lnTo>
                  <a:pt x="9135711" y="7536962"/>
                </a:lnTo>
                <a:lnTo>
                  <a:pt x="0" y="7536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1120768" y="4275221"/>
            <a:ext cx="8951575" cy="1736558"/>
            <a:chOff x="0" y="0"/>
            <a:chExt cx="2357616" cy="4573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57616" cy="457365"/>
            </a:xfrm>
            <a:custGeom>
              <a:avLst/>
              <a:gdLst/>
              <a:ahLst/>
              <a:cxnLst/>
              <a:rect l="l" t="t" r="r" b="b"/>
              <a:pathLst>
                <a:path w="2357616" h="457365">
                  <a:moveTo>
                    <a:pt x="0" y="0"/>
                  </a:moveTo>
                  <a:lnTo>
                    <a:pt x="2357616" y="0"/>
                  </a:lnTo>
                  <a:lnTo>
                    <a:pt x="2357616" y="457365"/>
                  </a:lnTo>
                  <a:lnTo>
                    <a:pt x="0" y="457365"/>
                  </a:lnTo>
                  <a:close/>
                </a:path>
              </a:pathLst>
            </a:custGeom>
            <a:ln w="57150" cap="sq">
              <a:solidFill>
                <a:srgbClr val="A42D33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357616" cy="495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20768" y="8241991"/>
            <a:ext cx="8951575" cy="1317934"/>
            <a:chOff x="0" y="0"/>
            <a:chExt cx="2357616" cy="3471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57616" cy="347110"/>
            </a:xfrm>
            <a:custGeom>
              <a:avLst/>
              <a:gdLst/>
              <a:ahLst/>
              <a:cxnLst/>
              <a:rect l="l" t="t" r="r" b="b"/>
              <a:pathLst>
                <a:path w="2357616" h="347110">
                  <a:moveTo>
                    <a:pt x="0" y="0"/>
                  </a:moveTo>
                  <a:lnTo>
                    <a:pt x="2357616" y="0"/>
                  </a:lnTo>
                  <a:lnTo>
                    <a:pt x="2357616" y="347110"/>
                  </a:lnTo>
                  <a:lnTo>
                    <a:pt x="0" y="347110"/>
                  </a:lnTo>
                  <a:close/>
                </a:path>
              </a:pathLst>
            </a:custGeom>
            <a:ln w="57150" cap="sq">
              <a:solidFill>
                <a:srgbClr val="A42D33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357616" cy="385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550064" y="2736768"/>
            <a:ext cx="2361839" cy="2637917"/>
            <a:chOff x="0" y="0"/>
            <a:chExt cx="3149118" cy="3517223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3149118" cy="3517223"/>
              <a:chOff x="0" y="0"/>
              <a:chExt cx="789859" cy="88218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89859" cy="882186"/>
              </a:xfrm>
              <a:custGeom>
                <a:avLst/>
                <a:gdLst/>
                <a:ahLst/>
                <a:cxnLst/>
                <a:rect l="l" t="t" r="r" b="b"/>
                <a:pathLst>
                  <a:path w="789859" h="882186">
                    <a:moveTo>
                      <a:pt x="116168" y="0"/>
                    </a:moveTo>
                    <a:lnTo>
                      <a:pt x="673691" y="0"/>
                    </a:lnTo>
                    <a:cubicBezTo>
                      <a:pt x="704501" y="0"/>
                      <a:pt x="734048" y="12239"/>
                      <a:pt x="755834" y="34025"/>
                    </a:cubicBezTo>
                    <a:cubicBezTo>
                      <a:pt x="777620" y="55810"/>
                      <a:pt x="789859" y="85358"/>
                      <a:pt x="789859" y="116168"/>
                    </a:cubicBezTo>
                    <a:lnTo>
                      <a:pt x="789859" y="766019"/>
                    </a:lnTo>
                    <a:cubicBezTo>
                      <a:pt x="789859" y="796828"/>
                      <a:pt x="777620" y="826376"/>
                      <a:pt x="755834" y="848162"/>
                    </a:cubicBezTo>
                    <a:cubicBezTo>
                      <a:pt x="734048" y="869947"/>
                      <a:pt x="704501" y="882186"/>
                      <a:pt x="673691" y="882186"/>
                    </a:cubicBezTo>
                    <a:lnTo>
                      <a:pt x="116168" y="882186"/>
                    </a:lnTo>
                    <a:cubicBezTo>
                      <a:pt x="85358" y="882186"/>
                      <a:pt x="55810" y="869947"/>
                      <a:pt x="34025" y="848162"/>
                    </a:cubicBezTo>
                    <a:cubicBezTo>
                      <a:pt x="12239" y="826376"/>
                      <a:pt x="0" y="796828"/>
                      <a:pt x="0" y="766019"/>
                    </a:cubicBezTo>
                    <a:lnTo>
                      <a:pt x="0" y="116168"/>
                    </a:lnTo>
                    <a:cubicBezTo>
                      <a:pt x="0" y="85358"/>
                      <a:pt x="12239" y="55810"/>
                      <a:pt x="34025" y="34025"/>
                    </a:cubicBezTo>
                    <a:cubicBezTo>
                      <a:pt x="55810" y="12239"/>
                      <a:pt x="85358" y="0"/>
                      <a:pt x="116168" y="0"/>
                    </a:cubicBezTo>
                    <a:close/>
                  </a:path>
                </a:pathLst>
              </a:custGeom>
              <a:solidFill>
                <a:srgbClr val="FFFFFF">
                  <a:alpha val="64706"/>
                </a:srgbClr>
              </a:solidFill>
              <a:ln w="38100" cap="rnd">
                <a:solidFill>
                  <a:srgbClr val="000000">
                    <a:alpha val="64706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19050"/>
                <a:ext cx="789859" cy="9012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260"/>
                  </a:lnSpc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406229" y="823947"/>
              <a:ext cx="2336660" cy="1869328"/>
            </a:xfrm>
            <a:custGeom>
              <a:avLst/>
              <a:gdLst/>
              <a:ahLst/>
              <a:cxnLst/>
              <a:rect l="l" t="t" r="r" b="b"/>
              <a:pathLst>
                <a:path w="2336660" h="1869328">
                  <a:moveTo>
                    <a:pt x="0" y="0"/>
                  </a:moveTo>
                  <a:lnTo>
                    <a:pt x="2336660" y="0"/>
                  </a:lnTo>
                  <a:lnTo>
                    <a:pt x="2336660" y="1869329"/>
                  </a:lnTo>
                  <a:lnTo>
                    <a:pt x="0" y="1869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5419" y="2927281"/>
              <a:ext cx="1358280" cy="3279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94"/>
                </a:lnSpc>
                <a:spcBef>
                  <a:spcPct val="0"/>
                </a:spcBef>
              </a:pPr>
              <a:r>
                <a:rPr lang="en-US" sz="149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WAR File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550064" y="6441674"/>
            <a:ext cx="2361839" cy="2637917"/>
            <a:chOff x="0" y="0"/>
            <a:chExt cx="3149118" cy="3517223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3149118" cy="3517223"/>
              <a:chOff x="0" y="0"/>
              <a:chExt cx="789859" cy="88218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789859" cy="882186"/>
              </a:xfrm>
              <a:custGeom>
                <a:avLst/>
                <a:gdLst/>
                <a:ahLst/>
                <a:cxnLst/>
                <a:rect l="l" t="t" r="r" b="b"/>
                <a:pathLst>
                  <a:path w="789859" h="882186">
                    <a:moveTo>
                      <a:pt x="116168" y="0"/>
                    </a:moveTo>
                    <a:lnTo>
                      <a:pt x="673691" y="0"/>
                    </a:lnTo>
                    <a:cubicBezTo>
                      <a:pt x="704501" y="0"/>
                      <a:pt x="734048" y="12239"/>
                      <a:pt x="755834" y="34025"/>
                    </a:cubicBezTo>
                    <a:cubicBezTo>
                      <a:pt x="777620" y="55810"/>
                      <a:pt x="789859" y="85358"/>
                      <a:pt x="789859" y="116168"/>
                    </a:cubicBezTo>
                    <a:lnTo>
                      <a:pt x="789859" y="766019"/>
                    </a:lnTo>
                    <a:cubicBezTo>
                      <a:pt x="789859" y="796828"/>
                      <a:pt x="777620" y="826376"/>
                      <a:pt x="755834" y="848162"/>
                    </a:cubicBezTo>
                    <a:cubicBezTo>
                      <a:pt x="734048" y="869947"/>
                      <a:pt x="704501" y="882186"/>
                      <a:pt x="673691" y="882186"/>
                    </a:cubicBezTo>
                    <a:lnTo>
                      <a:pt x="116168" y="882186"/>
                    </a:lnTo>
                    <a:cubicBezTo>
                      <a:pt x="85358" y="882186"/>
                      <a:pt x="55810" y="869947"/>
                      <a:pt x="34025" y="848162"/>
                    </a:cubicBezTo>
                    <a:cubicBezTo>
                      <a:pt x="12239" y="826376"/>
                      <a:pt x="0" y="796828"/>
                      <a:pt x="0" y="766019"/>
                    </a:cubicBezTo>
                    <a:lnTo>
                      <a:pt x="0" y="116168"/>
                    </a:lnTo>
                    <a:cubicBezTo>
                      <a:pt x="0" y="85358"/>
                      <a:pt x="12239" y="55810"/>
                      <a:pt x="34025" y="34025"/>
                    </a:cubicBezTo>
                    <a:cubicBezTo>
                      <a:pt x="55810" y="12239"/>
                      <a:pt x="85358" y="0"/>
                      <a:pt x="116168" y="0"/>
                    </a:cubicBezTo>
                    <a:close/>
                  </a:path>
                </a:pathLst>
              </a:custGeom>
              <a:solidFill>
                <a:srgbClr val="FFFFFF">
                  <a:alpha val="64706"/>
                </a:srgbClr>
              </a:solidFill>
              <a:ln w="38100" cap="rnd">
                <a:solidFill>
                  <a:srgbClr val="000000">
                    <a:alpha val="64706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19050"/>
                <a:ext cx="789859" cy="9012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260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352839" y="289195"/>
              <a:ext cx="2443441" cy="2449974"/>
            </a:xfrm>
            <a:custGeom>
              <a:avLst/>
              <a:gdLst/>
              <a:ahLst/>
              <a:cxnLst/>
              <a:rect l="l" t="t" r="r" b="b"/>
              <a:pathLst>
                <a:path w="2443441" h="2449974">
                  <a:moveTo>
                    <a:pt x="0" y="0"/>
                  </a:moveTo>
                  <a:lnTo>
                    <a:pt x="2443440" y="0"/>
                  </a:lnTo>
                  <a:lnTo>
                    <a:pt x="2443440" y="2449974"/>
                  </a:lnTo>
                  <a:lnTo>
                    <a:pt x="0" y="2449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98709" y="2942816"/>
              <a:ext cx="1115076" cy="3279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94"/>
                </a:lnSpc>
                <a:spcBef>
                  <a:spcPct val="0"/>
                </a:spcBef>
              </a:pPr>
              <a:r>
                <a:rPr lang="en-US" sz="149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Database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20</a:t>
            </a:r>
          </a:p>
        </p:txBody>
      </p:sp>
      <p:sp>
        <p:nvSpPr>
          <p:cNvPr id="22" name="Freeform 22"/>
          <p:cNvSpPr/>
          <p:nvPr/>
        </p:nvSpPr>
        <p:spPr>
          <a:xfrm>
            <a:off x="8777564" y="345920"/>
            <a:ext cx="1386848" cy="1185755"/>
          </a:xfrm>
          <a:custGeom>
            <a:avLst/>
            <a:gdLst/>
            <a:ahLst/>
            <a:cxnLst/>
            <a:rect l="l" t="t" r="r" b="b"/>
            <a:pathLst>
              <a:path w="1386848" h="1185755">
                <a:moveTo>
                  <a:pt x="0" y="0"/>
                </a:moveTo>
                <a:lnTo>
                  <a:pt x="1386847" y="0"/>
                </a:lnTo>
                <a:lnTo>
                  <a:pt x="1386847" y="1185755"/>
                </a:lnTo>
                <a:lnTo>
                  <a:pt x="0" y="11857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23" name="Group 23"/>
          <p:cNvGrpSpPr/>
          <p:nvPr/>
        </p:nvGrpSpPr>
        <p:grpSpPr>
          <a:xfrm>
            <a:off x="3685740" y="7546227"/>
            <a:ext cx="1357352" cy="428812"/>
            <a:chOff x="0" y="0"/>
            <a:chExt cx="1286410" cy="406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86410" cy="406400"/>
            </a:xfrm>
            <a:custGeom>
              <a:avLst/>
              <a:gdLst/>
              <a:ahLst/>
              <a:cxnLst/>
              <a:rect l="l" t="t" r="r" b="b"/>
              <a:pathLst>
                <a:path w="1286410" h="406400">
                  <a:moveTo>
                    <a:pt x="1083210" y="0"/>
                  </a:moveTo>
                  <a:cubicBezTo>
                    <a:pt x="1195434" y="0"/>
                    <a:pt x="1286410" y="90976"/>
                    <a:pt x="1286410" y="203200"/>
                  </a:cubicBezTo>
                  <a:cubicBezTo>
                    <a:pt x="1286410" y="315424"/>
                    <a:pt x="1195434" y="406400"/>
                    <a:pt x="108321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28641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493111" y="-133350"/>
            <a:ext cx="10339492" cy="1698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Containerization</a:t>
            </a:r>
          </a:p>
          <a:p>
            <a:pPr algn="l">
              <a:lnSpc>
                <a:spcPts val="4770"/>
              </a:lnSpc>
            </a:pPr>
            <a:r>
              <a:rPr lang="en-US" sz="3407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50064" y="2505583"/>
            <a:ext cx="2361839" cy="2637917"/>
            <a:chOff x="0" y="0"/>
            <a:chExt cx="3149118" cy="3517223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3149118" cy="3517223"/>
              <a:chOff x="0" y="0"/>
              <a:chExt cx="789859" cy="88218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9859" cy="882186"/>
              </a:xfrm>
              <a:custGeom>
                <a:avLst/>
                <a:gdLst/>
                <a:ahLst/>
                <a:cxnLst/>
                <a:rect l="l" t="t" r="r" b="b"/>
                <a:pathLst>
                  <a:path w="789859" h="882186">
                    <a:moveTo>
                      <a:pt x="116168" y="0"/>
                    </a:moveTo>
                    <a:lnTo>
                      <a:pt x="673691" y="0"/>
                    </a:lnTo>
                    <a:cubicBezTo>
                      <a:pt x="704501" y="0"/>
                      <a:pt x="734048" y="12239"/>
                      <a:pt x="755834" y="34025"/>
                    </a:cubicBezTo>
                    <a:cubicBezTo>
                      <a:pt x="777620" y="55810"/>
                      <a:pt x="789859" y="85358"/>
                      <a:pt x="789859" y="116168"/>
                    </a:cubicBezTo>
                    <a:lnTo>
                      <a:pt x="789859" y="766019"/>
                    </a:lnTo>
                    <a:cubicBezTo>
                      <a:pt x="789859" y="796828"/>
                      <a:pt x="777620" y="826376"/>
                      <a:pt x="755834" y="848162"/>
                    </a:cubicBezTo>
                    <a:cubicBezTo>
                      <a:pt x="734048" y="869947"/>
                      <a:pt x="704501" y="882186"/>
                      <a:pt x="673691" y="882186"/>
                    </a:cubicBezTo>
                    <a:lnTo>
                      <a:pt x="116168" y="882186"/>
                    </a:lnTo>
                    <a:cubicBezTo>
                      <a:pt x="85358" y="882186"/>
                      <a:pt x="55810" y="869947"/>
                      <a:pt x="34025" y="848162"/>
                    </a:cubicBezTo>
                    <a:cubicBezTo>
                      <a:pt x="12239" y="826376"/>
                      <a:pt x="0" y="796828"/>
                      <a:pt x="0" y="766019"/>
                    </a:cubicBezTo>
                    <a:lnTo>
                      <a:pt x="0" y="116168"/>
                    </a:lnTo>
                    <a:cubicBezTo>
                      <a:pt x="0" y="85358"/>
                      <a:pt x="12239" y="55810"/>
                      <a:pt x="34025" y="34025"/>
                    </a:cubicBezTo>
                    <a:cubicBezTo>
                      <a:pt x="55810" y="12239"/>
                      <a:pt x="85358" y="0"/>
                      <a:pt x="116168" y="0"/>
                    </a:cubicBezTo>
                    <a:close/>
                  </a:path>
                </a:pathLst>
              </a:custGeom>
              <a:solidFill>
                <a:srgbClr val="FFFFFF">
                  <a:alpha val="64706"/>
                </a:srgbClr>
              </a:solidFill>
              <a:ln w="38100" cap="rnd">
                <a:solidFill>
                  <a:srgbClr val="000000">
                    <a:alpha val="64706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789859" cy="9012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260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406229" y="823947"/>
              <a:ext cx="2336660" cy="1869328"/>
            </a:xfrm>
            <a:custGeom>
              <a:avLst/>
              <a:gdLst/>
              <a:ahLst/>
              <a:cxnLst/>
              <a:rect l="l" t="t" r="r" b="b"/>
              <a:pathLst>
                <a:path w="2336660" h="1869328">
                  <a:moveTo>
                    <a:pt x="0" y="0"/>
                  </a:moveTo>
                  <a:lnTo>
                    <a:pt x="2336660" y="0"/>
                  </a:lnTo>
                  <a:lnTo>
                    <a:pt x="2336660" y="1869329"/>
                  </a:lnTo>
                  <a:lnTo>
                    <a:pt x="0" y="1869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95419" y="2927281"/>
              <a:ext cx="1358280" cy="3279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94"/>
                </a:lnSpc>
                <a:spcBef>
                  <a:spcPct val="0"/>
                </a:spcBef>
              </a:pPr>
              <a:r>
                <a:rPr lang="en-US" sz="149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WAR File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550064" y="6293862"/>
            <a:ext cx="2361839" cy="2637917"/>
            <a:chOff x="0" y="0"/>
            <a:chExt cx="3149118" cy="3517223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3149118" cy="3517223"/>
              <a:chOff x="0" y="0"/>
              <a:chExt cx="789859" cy="88218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89859" cy="882186"/>
              </a:xfrm>
              <a:custGeom>
                <a:avLst/>
                <a:gdLst/>
                <a:ahLst/>
                <a:cxnLst/>
                <a:rect l="l" t="t" r="r" b="b"/>
                <a:pathLst>
                  <a:path w="789859" h="882186">
                    <a:moveTo>
                      <a:pt x="116168" y="0"/>
                    </a:moveTo>
                    <a:lnTo>
                      <a:pt x="673691" y="0"/>
                    </a:lnTo>
                    <a:cubicBezTo>
                      <a:pt x="704501" y="0"/>
                      <a:pt x="734048" y="12239"/>
                      <a:pt x="755834" y="34025"/>
                    </a:cubicBezTo>
                    <a:cubicBezTo>
                      <a:pt x="777620" y="55810"/>
                      <a:pt x="789859" y="85358"/>
                      <a:pt x="789859" y="116168"/>
                    </a:cubicBezTo>
                    <a:lnTo>
                      <a:pt x="789859" y="766019"/>
                    </a:lnTo>
                    <a:cubicBezTo>
                      <a:pt x="789859" y="796828"/>
                      <a:pt x="777620" y="826376"/>
                      <a:pt x="755834" y="848162"/>
                    </a:cubicBezTo>
                    <a:cubicBezTo>
                      <a:pt x="734048" y="869947"/>
                      <a:pt x="704501" y="882186"/>
                      <a:pt x="673691" y="882186"/>
                    </a:cubicBezTo>
                    <a:lnTo>
                      <a:pt x="116168" y="882186"/>
                    </a:lnTo>
                    <a:cubicBezTo>
                      <a:pt x="85358" y="882186"/>
                      <a:pt x="55810" y="869947"/>
                      <a:pt x="34025" y="848162"/>
                    </a:cubicBezTo>
                    <a:cubicBezTo>
                      <a:pt x="12239" y="826376"/>
                      <a:pt x="0" y="796828"/>
                      <a:pt x="0" y="766019"/>
                    </a:cubicBezTo>
                    <a:lnTo>
                      <a:pt x="0" y="116168"/>
                    </a:lnTo>
                    <a:cubicBezTo>
                      <a:pt x="0" y="85358"/>
                      <a:pt x="12239" y="55810"/>
                      <a:pt x="34025" y="34025"/>
                    </a:cubicBezTo>
                    <a:cubicBezTo>
                      <a:pt x="55810" y="12239"/>
                      <a:pt x="85358" y="0"/>
                      <a:pt x="116168" y="0"/>
                    </a:cubicBezTo>
                    <a:close/>
                  </a:path>
                </a:pathLst>
              </a:custGeom>
              <a:solidFill>
                <a:srgbClr val="FFFFFF">
                  <a:alpha val="64706"/>
                </a:srgbClr>
              </a:solidFill>
              <a:ln w="38100" cap="rnd">
                <a:solidFill>
                  <a:srgbClr val="000000">
                    <a:alpha val="64706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19050"/>
                <a:ext cx="789859" cy="9012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260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352839" y="289195"/>
              <a:ext cx="2443441" cy="2449974"/>
            </a:xfrm>
            <a:custGeom>
              <a:avLst/>
              <a:gdLst/>
              <a:ahLst/>
              <a:cxnLst/>
              <a:rect l="l" t="t" r="r" b="b"/>
              <a:pathLst>
                <a:path w="2443441" h="2449974">
                  <a:moveTo>
                    <a:pt x="0" y="0"/>
                  </a:moveTo>
                  <a:lnTo>
                    <a:pt x="2443440" y="0"/>
                  </a:lnTo>
                  <a:lnTo>
                    <a:pt x="2443440" y="2449974"/>
                  </a:lnTo>
                  <a:lnTo>
                    <a:pt x="0" y="2449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98709" y="2942816"/>
              <a:ext cx="1115076" cy="3279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94"/>
                </a:lnSpc>
                <a:spcBef>
                  <a:spcPct val="0"/>
                </a:spcBef>
              </a:pPr>
              <a:r>
                <a:rPr lang="en-US" sz="1496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Database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587512" y="3102849"/>
            <a:ext cx="8018805" cy="1443385"/>
          </a:xfrm>
          <a:custGeom>
            <a:avLst/>
            <a:gdLst/>
            <a:ahLst/>
            <a:cxnLst/>
            <a:rect l="l" t="t" r="r" b="b"/>
            <a:pathLst>
              <a:path w="8018805" h="1443385">
                <a:moveTo>
                  <a:pt x="0" y="0"/>
                </a:moveTo>
                <a:lnTo>
                  <a:pt x="8018804" y="0"/>
                </a:lnTo>
                <a:lnTo>
                  <a:pt x="8018804" y="1443385"/>
                </a:lnTo>
                <a:lnTo>
                  <a:pt x="0" y="14433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5" name="Freeform 15"/>
          <p:cNvSpPr/>
          <p:nvPr/>
        </p:nvSpPr>
        <p:spPr>
          <a:xfrm>
            <a:off x="587512" y="7011411"/>
            <a:ext cx="8018805" cy="1202821"/>
          </a:xfrm>
          <a:custGeom>
            <a:avLst/>
            <a:gdLst/>
            <a:ahLst/>
            <a:cxnLst/>
            <a:rect l="l" t="t" r="r" b="b"/>
            <a:pathLst>
              <a:path w="8018805" h="1202821">
                <a:moveTo>
                  <a:pt x="0" y="0"/>
                </a:moveTo>
                <a:lnTo>
                  <a:pt x="8018804" y="0"/>
                </a:lnTo>
                <a:lnTo>
                  <a:pt x="8018804" y="1202820"/>
                </a:lnTo>
                <a:lnTo>
                  <a:pt x="0" y="12028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6" name="AutoShape 16"/>
          <p:cNvSpPr/>
          <p:nvPr/>
        </p:nvSpPr>
        <p:spPr>
          <a:xfrm flipV="1">
            <a:off x="8904304" y="3824541"/>
            <a:ext cx="4081917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17" name="AutoShape 17"/>
          <p:cNvSpPr/>
          <p:nvPr/>
        </p:nvSpPr>
        <p:spPr>
          <a:xfrm flipV="1">
            <a:off x="8904215" y="7574721"/>
            <a:ext cx="4081917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Box 18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21</a:t>
            </a:r>
          </a:p>
        </p:txBody>
      </p:sp>
      <p:sp>
        <p:nvSpPr>
          <p:cNvPr id="19" name="Freeform 19"/>
          <p:cNvSpPr/>
          <p:nvPr/>
        </p:nvSpPr>
        <p:spPr>
          <a:xfrm>
            <a:off x="8792196" y="435823"/>
            <a:ext cx="1386848" cy="1185755"/>
          </a:xfrm>
          <a:custGeom>
            <a:avLst/>
            <a:gdLst/>
            <a:ahLst/>
            <a:cxnLst/>
            <a:rect l="l" t="t" r="r" b="b"/>
            <a:pathLst>
              <a:path w="1386848" h="1185755">
                <a:moveTo>
                  <a:pt x="0" y="0"/>
                </a:moveTo>
                <a:lnTo>
                  <a:pt x="1386848" y="0"/>
                </a:lnTo>
                <a:lnTo>
                  <a:pt x="1386848" y="1185754"/>
                </a:lnTo>
                <a:lnTo>
                  <a:pt x="0" y="11857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0" name="TextBox 20"/>
          <p:cNvSpPr txBox="1"/>
          <p:nvPr/>
        </p:nvSpPr>
        <p:spPr>
          <a:xfrm>
            <a:off x="493111" y="-133350"/>
            <a:ext cx="10339492" cy="1698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Containerization</a:t>
            </a:r>
          </a:p>
          <a:p>
            <a:pPr algn="l">
              <a:lnSpc>
                <a:spcPts val="4770"/>
              </a:lnSpc>
            </a:pPr>
            <a:r>
              <a:rPr lang="en-US" sz="3407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6632" y="1970151"/>
            <a:ext cx="9135711" cy="7536962"/>
          </a:xfrm>
          <a:custGeom>
            <a:avLst/>
            <a:gdLst/>
            <a:ahLst/>
            <a:cxnLst/>
            <a:rect l="l" t="t" r="r" b="b"/>
            <a:pathLst>
              <a:path w="9135711" h="7536962">
                <a:moveTo>
                  <a:pt x="0" y="0"/>
                </a:moveTo>
                <a:lnTo>
                  <a:pt x="9135711" y="0"/>
                </a:lnTo>
                <a:lnTo>
                  <a:pt x="9135711" y="7536962"/>
                </a:lnTo>
                <a:lnTo>
                  <a:pt x="0" y="7536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1120768" y="2929068"/>
            <a:ext cx="8951575" cy="630790"/>
            <a:chOff x="0" y="0"/>
            <a:chExt cx="2357616" cy="1661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57616" cy="166134"/>
            </a:xfrm>
            <a:custGeom>
              <a:avLst/>
              <a:gdLst/>
              <a:ahLst/>
              <a:cxnLst/>
              <a:rect l="l" t="t" r="r" b="b"/>
              <a:pathLst>
                <a:path w="2357616" h="166134">
                  <a:moveTo>
                    <a:pt x="0" y="0"/>
                  </a:moveTo>
                  <a:lnTo>
                    <a:pt x="2357616" y="0"/>
                  </a:lnTo>
                  <a:lnTo>
                    <a:pt x="2357616" y="166134"/>
                  </a:lnTo>
                  <a:lnTo>
                    <a:pt x="0" y="166134"/>
                  </a:lnTo>
                  <a:close/>
                </a:path>
              </a:pathLst>
            </a:custGeom>
            <a:ln w="57150" cap="sq">
              <a:solidFill>
                <a:srgbClr val="A42D33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357616" cy="2042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20768" y="6867064"/>
            <a:ext cx="8951575" cy="572742"/>
            <a:chOff x="0" y="0"/>
            <a:chExt cx="2357616" cy="1508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57616" cy="150846"/>
            </a:xfrm>
            <a:custGeom>
              <a:avLst/>
              <a:gdLst/>
              <a:ahLst/>
              <a:cxnLst/>
              <a:rect l="l" t="t" r="r" b="b"/>
              <a:pathLst>
                <a:path w="2357616" h="150846">
                  <a:moveTo>
                    <a:pt x="0" y="0"/>
                  </a:moveTo>
                  <a:lnTo>
                    <a:pt x="2357616" y="0"/>
                  </a:lnTo>
                  <a:lnTo>
                    <a:pt x="2357616" y="150846"/>
                  </a:lnTo>
                  <a:lnTo>
                    <a:pt x="0" y="150846"/>
                  </a:lnTo>
                  <a:close/>
                </a:path>
              </a:pathLst>
            </a:custGeom>
            <a:ln w="57150" cap="sq">
              <a:solidFill>
                <a:srgbClr val="A42D33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357616" cy="188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22</a:t>
            </a:r>
          </a:p>
        </p:txBody>
      </p:sp>
      <p:sp>
        <p:nvSpPr>
          <p:cNvPr id="10" name="Freeform 10"/>
          <p:cNvSpPr/>
          <p:nvPr/>
        </p:nvSpPr>
        <p:spPr>
          <a:xfrm>
            <a:off x="8777564" y="345920"/>
            <a:ext cx="1386848" cy="1185755"/>
          </a:xfrm>
          <a:custGeom>
            <a:avLst/>
            <a:gdLst/>
            <a:ahLst/>
            <a:cxnLst/>
            <a:rect l="l" t="t" r="r" b="b"/>
            <a:pathLst>
              <a:path w="1386848" h="1185755">
                <a:moveTo>
                  <a:pt x="0" y="0"/>
                </a:moveTo>
                <a:lnTo>
                  <a:pt x="1386847" y="0"/>
                </a:lnTo>
                <a:lnTo>
                  <a:pt x="1386847" y="1185755"/>
                </a:lnTo>
                <a:lnTo>
                  <a:pt x="0" y="11857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>
          <a:xfrm>
            <a:off x="12437028" y="2261059"/>
            <a:ext cx="3915030" cy="2882441"/>
          </a:xfrm>
          <a:custGeom>
            <a:avLst/>
            <a:gdLst/>
            <a:ahLst/>
            <a:cxnLst/>
            <a:rect l="l" t="t" r="r" b="b"/>
            <a:pathLst>
              <a:path w="3915030" h="2882441">
                <a:moveTo>
                  <a:pt x="0" y="0"/>
                </a:moveTo>
                <a:lnTo>
                  <a:pt x="3915030" y="0"/>
                </a:lnTo>
                <a:lnTo>
                  <a:pt x="3915030" y="2882441"/>
                </a:lnTo>
                <a:lnTo>
                  <a:pt x="0" y="2882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2" name="Freeform 12"/>
          <p:cNvSpPr/>
          <p:nvPr/>
        </p:nvSpPr>
        <p:spPr>
          <a:xfrm>
            <a:off x="12437028" y="6037736"/>
            <a:ext cx="3915030" cy="2804140"/>
          </a:xfrm>
          <a:custGeom>
            <a:avLst/>
            <a:gdLst/>
            <a:ahLst/>
            <a:cxnLst/>
            <a:rect l="l" t="t" r="r" b="b"/>
            <a:pathLst>
              <a:path w="3915030" h="2804140">
                <a:moveTo>
                  <a:pt x="0" y="0"/>
                </a:moveTo>
                <a:lnTo>
                  <a:pt x="3915030" y="0"/>
                </a:lnTo>
                <a:lnTo>
                  <a:pt x="3915030" y="2804141"/>
                </a:lnTo>
                <a:lnTo>
                  <a:pt x="0" y="28041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3" name="TextBox 13"/>
          <p:cNvSpPr txBox="1"/>
          <p:nvPr/>
        </p:nvSpPr>
        <p:spPr>
          <a:xfrm>
            <a:off x="493111" y="-133350"/>
            <a:ext cx="10339492" cy="1698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Containerization</a:t>
            </a:r>
          </a:p>
          <a:p>
            <a:pPr algn="l">
              <a:lnSpc>
                <a:spcPts val="4770"/>
              </a:lnSpc>
            </a:pPr>
            <a:r>
              <a:rPr lang="en-US" sz="3407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7103041" y="3862641"/>
            <a:ext cx="4081917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3" name="AutoShape 3"/>
          <p:cNvSpPr/>
          <p:nvPr/>
        </p:nvSpPr>
        <p:spPr>
          <a:xfrm flipV="1">
            <a:off x="7103130" y="7593771"/>
            <a:ext cx="4081917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4" name="Freeform 4"/>
          <p:cNvSpPr/>
          <p:nvPr/>
        </p:nvSpPr>
        <p:spPr>
          <a:xfrm>
            <a:off x="8762931" y="345920"/>
            <a:ext cx="1386848" cy="1185755"/>
          </a:xfrm>
          <a:custGeom>
            <a:avLst/>
            <a:gdLst/>
            <a:ahLst/>
            <a:cxnLst/>
            <a:rect l="l" t="t" r="r" b="b"/>
            <a:pathLst>
              <a:path w="1386848" h="1185755">
                <a:moveTo>
                  <a:pt x="0" y="0"/>
                </a:moveTo>
                <a:lnTo>
                  <a:pt x="1386847" y="0"/>
                </a:lnTo>
                <a:lnTo>
                  <a:pt x="1386847" y="1185755"/>
                </a:lnTo>
                <a:lnTo>
                  <a:pt x="0" y="11857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Freeform 5"/>
          <p:cNvSpPr/>
          <p:nvPr/>
        </p:nvSpPr>
        <p:spPr>
          <a:xfrm>
            <a:off x="2933423" y="3399278"/>
            <a:ext cx="3232995" cy="888627"/>
          </a:xfrm>
          <a:custGeom>
            <a:avLst/>
            <a:gdLst/>
            <a:ahLst/>
            <a:cxnLst/>
            <a:rect l="l" t="t" r="r" b="b"/>
            <a:pathLst>
              <a:path w="3232995" h="888627">
                <a:moveTo>
                  <a:pt x="0" y="0"/>
                </a:moveTo>
                <a:lnTo>
                  <a:pt x="3232996" y="0"/>
                </a:lnTo>
                <a:lnTo>
                  <a:pt x="3232996" y="888627"/>
                </a:lnTo>
                <a:lnTo>
                  <a:pt x="0" y="888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1542" r="-3489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2855251" y="7006826"/>
            <a:ext cx="3389340" cy="1135789"/>
          </a:xfrm>
          <a:custGeom>
            <a:avLst/>
            <a:gdLst/>
            <a:ahLst/>
            <a:cxnLst/>
            <a:rect l="l" t="t" r="r" b="b"/>
            <a:pathLst>
              <a:path w="3389340" h="1135789">
                <a:moveTo>
                  <a:pt x="0" y="0"/>
                </a:moveTo>
                <a:lnTo>
                  <a:pt x="3389340" y="0"/>
                </a:lnTo>
                <a:lnTo>
                  <a:pt x="3389340" y="1135790"/>
                </a:lnTo>
                <a:lnTo>
                  <a:pt x="0" y="11357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12023883" y="2656148"/>
            <a:ext cx="2940767" cy="2165139"/>
          </a:xfrm>
          <a:custGeom>
            <a:avLst/>
            <a:gdLst/>
            <a:ahLst/>
            <a:cxnLst/>
            <a:rect l="l" t="t" r="r" b="b"/>
            <a:pathLst>
              <a:path w="2940767" h="2165139">
                <a:moveTo>
                  <a:pt x="0" y="0"/>
                </a:moveTo>
                <a:lnTo>
                  <a:pt x="2940766" y="0"/>
                </a:lnTo>
                <a:lnTo>
                  <a:pt x="2940766" y="2165140"/>
                </a:lnTo>
                <a:lnTo>
                  <a:pt x="0" y="2165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Freeform 8"/>
          <p:cNvSpPr/>
          <p:nvPr/>
        </p:nvSpPr>
        <p:spPr>
          <a:xfrm>
            <a:off x="12042386" y="6483112"/>
            <a:ext cx="2922263" cy="2093071"/>
          </a:xfrm>
          <a:custGeom>
            <a:avLst/>
            <a:gdLst/>
            <a:ahLst/>
            <a:cxnLst/>
            <a:rect l="l" t="t" r="r" b="b"/>
            <a:pathLst>
              <a:path w="2922263" h="2093071">
                <a:moveTo>
                  <a:pt x="0" y="0"/>
                </a:moveTo>
                <a:lnTo>
                  <a:pt x="2922263" y="0"/>
                </a:lnTo>
                <a:lnTo>
                  <a:pt x="2922263" y="2093071"/>
                </a:lnTo>
                <a:lnTo>
                  <a:pt x="0" y="20930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TextBox 9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3111" y="-133350"/>
            <a:ext cx="10339492" cy="1698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Containerization</a:t>
            </a:r>
          </a:p>
          <a:p>
            <a:pPr algn="l">
              <a:lnSpc>
                <a:spcPts val="4770"/>
              </a:lnSpc>
            </a:pPr>
            <a:r>
              <a:rPr lang="en-US" sz="3407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54106" y="1964471"/>
            <a:ext cx="11702891" cy="7762525"/>
          </a:xfrm>
          <a:custGeom>
            <a:avLst/>
            <a:gdLst/>
            <a:ahLst/>
            <a:cxnLst/>
            <a:rect l="l" t="t" r="r" b="b"/>
            <a:pathLst>
              <a:path w="11702891" h="7762525">
                <a:moveTo>
                  <a:pt x="0" y="0"/>
                </a:moveTo>
                <a:lnTo>
                  <a:pt x="11702891" y="0"/>
                </a:lnTo>
                <a:lnTo>
                  <a:pt x="11702891" y="7762525"/>
                </a:lnTo>
                <a:lnTo>
                  <a:pt x="0" y="7762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80" b="-825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451313" y="112809"/>
            <a:ext cx="11206141" cy="169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Servlets: Sequence Diagram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24</a:t>
            </a: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54106" y="1964471"/>
            <a:ext cx="18730757" cy="12424106"/>
          </a:xfrm>
          <a:custGeom>
            <a:avLst/>
            <a:gdLst/>
            <a:ahLst/>
            <a:cxnLst/>
            <a:rect l="l" t="t" r="r" b="b"/>
            <a:pathLst>
              <a:path w="18730757" h="12424106">
                <a:moveTo>
                  <a:pt x="0" y="0"/>
                </a:moveTo>
                <a:lnTo>
                  <a:pt x="18730757" y="0"/>
                </a:lnTo>
                <a:lnTo>
                  <a:pt x="18730757" y="12424106"/>
                </a:lnTo>
                <a:lnTo>
                  <a:pt x="0" y="124241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80" b="-825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1313" y="112809"/>
            <a:ext cx="11206141" cy="169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Servlets: Sequence Diagram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54106" y="1964471"/>
            <a:ext cx="12128669" cy="8044943"/>
          </a:xfrm>
          <a:custGeom>
            <a:avLst/>
            <a:gdLst/>
            <a:ahLst/>
            <a:cxnLst/>
            <a:rect l="l" t="t" r="r" b="b"/>
            <a:pathLst>
              <a:path w="12128669" h="8044943">
                <a:moveTo>
                  <a:pt x="0" y="0"/>
                </a:moveTo>
                <a:lnTo>
                  <a:pt x="12128668" y="0"/>
                </a:lnTo>
                <a:lnTo>
                  <a:pt x="12128668" y="8044943"/>
                </a:lnTo>
                <a:lnTo>
                  <a:pt x="0" y="80449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80" b="-825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1313" y="112809"/>
            <a:ext cx="11206141" cy="169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Servlets: Sequence Diagram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76423"/>
            <a:ext cx="16454689" cy="10914390"/>
          </a:xfrm>
          <a:custGeom>
            <a:avLst/>
            <a:gdLst/>
            <a:ahLst/>
            <a:cxnLst/>
            <a:rect l="l" t="t" r="r" b="b"/>
            <a:pathLst>
              <a:path w="16454689" h="10914390">
                <a:moveTo>
                  <a:pt x="0" y="0"/>
                </a:moveTo>
                <a:lnTo>
                  <a:pt x="16454689" y="0"/>
                </a:lnTo>
                <a:lnTo>
                  <a:pt x="16454689" y="10914391"/>
                </a:lnTo>
                <a:lnTo>
                  <a:pt x="0" y="109143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80" b="-825"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451313" y="246159"/>
            <a:ext cx="11206141" cy="1713299"/>
            <a:chOff x="0" y="0"/>
            <a:chExt cx="2951412" cy="4512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51412" cy="451239"/>
            </a:xfrm>
            <a:custGeom>
              <a:avLst/>
              <a:gdLst/>
              <a:ahLst/>
              <a:cxnLst/>
              <a:rect l="l" t="t" r="r" b="b"/>
              <a:pathLst>
                <a:path w="2951412" h="451239">
                  <a:moveTo>
                    <a:pt x="0" y="0"/>
                  </a:moveTo>
                  <a:lnTo>
                    <a:pt x="2951412" y="0"/>
                  </a:lnTo>
                  <a:lnTo>
                    <a:pt x="2951412" y="451239"/>
                  </a:lnTo>
                  <a:lnTo>
                    <a:pt x="0" y="4512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951412" cy="498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1313" y="112809"/>
            <a:ext cx="11206141" cy="169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Servlets: Sequence Diagram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54106" y="1964471"/>
            <a:ext cx="12345184" cy="8188557"/>
          </a:xfrm>
          <a:custGeom>
            <a:avLst/>
            <a:gdLst/>
            <a:ahLst/>
            <a:cxnLst/>
            <a:rect l="l" t="t" r="r" b="b"/>
            <a:pathLst>
              <a:path w="12345184" h="8188557">
                <a:moveTo>
                  <a:pt x="0" y="0"/>
                </a:moveTo>
                <a:lnTo>
                  <a:pt x="12345184" y="0"/>
                </a:lnTo>
                <a:lnTo>
                  <a:pt x="12345184" y="8188557"/>
                </a:lnTo>
                <a:lnTo>
                  <a:pt x="0" y="81885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80" b="-825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1313" y="112809"/>
            <a:ext cx="11206141" cy="169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Servlets: Sequence Diagram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1313" y="112809"/>
            <a:ext cx="11206141" cy="169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Servlets: implementation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29</a:t>
            </a: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24255" y="2116913"/>
            <a:ext cx="8929459" cy="7668173"/>
          </a:xfrm>
          <a:custGeom>
            <a:avLst/>
            <a:gdLst/>
            <a:ahLst/>
            <a:cxnLst/>
            <a:rect l="l" t="t" r="r" b="b"/>
            <a:pathLst>
              <a:path w="8929459" h="7668173">
                <a:moveTo>
                  <a:pt x="0" y="0"/>
                </a:moveTo>
                <a:lnTo>
                  <a:pt x="8929459" y="0"/>
                </a:lnTo>
                <a:lnTo>
                  <a:pt x="8929459" y="7668173"/>
                </a:lnTo>
                <a:lnTo>
                  <a:pt x="0" y="76681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451313" y="112809"/>
            <a:ext cx="11206141" cy="169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Servlets: implementation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30</a:t>
            </a: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103417" y="1299110"/>
            <a:ext cx="8038253" cy="6902850"/>
          </a:xfrm>
          <a:custGeom>
            <a:avLst/>
            <a:gdLst/>
            <a:ahLst/>
            <a:cxnLst/>
            <a:rect l="l" t="t" r="r" b="b"/>
            <a:pathLst>
              <a:path w="8038253" h="6902850">
                <a:moveTo>
                  <a:pt x="0" y="0"/>
                </a:moveTo>
                <a:lnTo>
                  <a:pt x="8038254" y="0"/>
                </a:lnTo>
                <a:lnTo>
                  <a:pt x="8038254" y="6902850"/>
                </a:lnTo>
                <a:lnTo>
                  <a:pt x="0" y="69028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746692" y="1899368"/>
            <a:ext cx="9201579" cy="8121542"/>
          </a:xfrm>
          <a:custGeom>
            <a:avLst/>
            <a:gdLst/>
            <a:ahLst/>
            <a:cxnLst/>
            <a:rect l="l" t="t" r="r" b="b"/>
            <a:pathLst>
              <a:path w="9201579" h="8121542">
                <a:moveTo>
                  <a:pt x="0" y="0"/>
                </a:moveTo>
                <a:lnTo>
                  <a:pt x="9201579" y="0"/>
                </a:lnTo>
                <a:lnTo>
                  <a:pt x="9201579" y="8121542"/>
                </a:lnTo>
                <a:lnTo>
                  <a:pt x="0" y="81215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84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TextBox 4"/>
          <p:cNvSpPr txBox="1"/>
          <p:nvPr/>
        </p:nvSpPr>
        <p:spPr>
          <a:xfrm>
            <a:off x="451313" y="112809"/>
            <a:ext cx="11206141" cy="169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Servlets: implementation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31</a:t>
            </a: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135279" y="1028700"/>
            <a:ext cx="11152721" cy="9577399"/>
          </a:xfrm>
          <a:custGeom>
            <a:avLst/>
            <a:gdLst/>
            <a:ahLst/>
            <a:cxnLst/>
            <a:rect l="l" t="t" r="r" b="b"/>
            <a:pathLst>
              <a:path w="11152721" h="9577399">
                <a:moveTo>
                  <a:pt x="0" y="0"/>
                </a:moveTo>
                <a:lnTo>
                  <a:pt x="11152721" y="0"/>
                </a:lnTo>
                <a:lnTo>
                  <a:pt x="11152721" y="9577399"/>
                </a:lnTo>
                <a:lnTo>
                  <a:pt x="0" y="95773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746692" y="1899368"/>
            <a:ext cx="9503054" cy="8387632"/>
          </a:xfrm>
          <a:custGeom>
            <a:avLst/>
            <a:gdLst/>
            <a:ahLst/>
            <a:cxnLst/>
            <a:rect l="l" t="t" r="r" b="b"/>
            <a:pathLst>
              <a:path w="9503054" h="8387632">
                <a:moveTo>
                  <a:pt x="0" y="0"/>
                </a:moveTo>
                <a:lnTo>
                  <a:pt x="9503055" y="0"/>
                </a:lnTo>
                <a:lnTo>
                  <a:pt x="9503055" y="8387632"/>
                </a:lnTo>
                <a:lnTo>
                  <a:pt x="0" y="83876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84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TextBox 4"/>
          <p:cNvSpPr txBox="1"/>
          <p:nvPr/>
        </p:nvSpPr>
        <p:spPr>
          <a:xfrm>
            <a:off x="451313" y="112809"/>
            <a:ext cx="11206141" cy="169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Servlets: implementation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32</a:t>
            </a:r>
          </a:p>
        </p:txBody>
      </p:sp>
      <p:sp>
        <p:nvSpPr>
          <p:cNvPr id="6" name="Freeform 6"/>
          <p:cNvSpPr/>
          <p:nvPr/>
        </p:nvSpPr>
        <p:spPr>
          <a:xfrm>
            <a:off x="7319213" y="7205319"/>
            <a:ext cx="10492564" cy="1695445"/>
          </a:xfrm>
          <a:custGeom>
            <a:avLst/>
            <a:gdLst/>
            <a:ahLst/>
            <a:cxnLst/>
            <a:rect l="l" t="t" r="r" b="b"/>
            <a:pathLst>
              <a:path w="10492564" h="1695445">
                <a:moveTo>
                  <a:pt x="0" y="0"/>
                </a:moveTo>
                <a:lnTo>
                  <a:pt x="10492565" y="0"/>
                </a:lnTo>
                <a:lnTo>
                  <a:pt x="10492565" y="1695445"/>
                </a:lnTo>
                <a:lnTo>
                  <a:pt x="0" y="16954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110241"/>
            <a:ext cx="14304504" cy="7491984"/>
          </a:xfrm>
          <a:custGeom>
            <a:avLst/>
            <a:gdLst/>
            <a:ahLst/>
            <a:cxnLst/>
            <a:rect l="l" t="t" r="r" b="b"/>
            <a:pathLst>
              <a:path w="14304504" h="7491984">
                <a:moveTo>
                  <a:pt x="0" y="0"/>
                </a:moveTo>
                <a:lnTo>
                  <a:pt x="14304504" y="0"/>
                </a:lnTo>
                <a:lnTo>
                  <a:pt x="14304504" y="7491984"/>
                </a:lnTo>
                <a:lnTo>
                  <a:pt x="0" y="7491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451313" y="112809"/>
            <a:ext cx="11206141" cy="169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REST: Sequence Diagram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33</a:t>
            </a:r>
          </a:p>
        </p:txBody>
      </p:sp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34</a:t>
            </a:r>
          </a:p>
        </p:txBody>
      </p:sp>
      <p:sp>
        <p:nvSpPr>
          <p:cNvPr id="3" name="Freeform 3"/>
          <p:cNvSpPr/>
          <p:nvPr/>
        </p:nvSpPr>
        <p:spPr>
          <a:xfrm>
            <a:off x="1181100" y="2262641"/>
            <a:ext cx="29281903" cy="15336396"/>
          </a:xfrm>
          <a:custGeom>
            <a:avLst/>
            <a:gdLst/>
            <a:ahLst/>
            <a:cxnLst/>
            <a:rect l="l" t="t" r="r" b="b"/>
            <a:pathLst>
              <a:path w="29281903" h="15336396">
                <a:moveTo>
                  <a:pt x="0" y="0"/>
                </a:moveTo>
                <a:lnTo>
                  <a:pt x="29281903" y="0"/>
                </a:lnTo>
                <a:lnTo>
                  <a:pt x="29281903" y="15336396"/>
                </a:lnTo>
                <a:lnTo>
                  <a:pt x="0" y="153363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TextBox 4"/>
          <p:cNvSpPr txBox="1"/>
          <p:nvPr/>
        </p:nvSpPr>
        <p:spPr>
          <a:xfrm>
            <a:off x="451313" y="112809"/>
            <a:ext cx="11206141" cy="169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REST: Sequence Diagram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1313" y="112809"/>
            <a:ext cx="11206141" cy="169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Sequence Diagram REST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-10173669" y="-2617186"/>
            <a:ext cx="26580700" cy="13921641"/>
          </a:xfrm>
          <a:custGeom>
            <a:avLst/>
            <a:gdLst/>
            <a:ahLst/>
            <a:cxnLst/>
            <a:rect l="l" t="t" r="r" b="b"/>
            <a:pathLst>
              <a:path w="26580700" h="13921641">
                <a:moveTo>
                  <a:pt x="0" y="0"/>
                </a:moveTo>
                <a:lnTo>
                  <a:pt x="26580700" y="0"/>
                </a:lnTo>
                <a:lnTo>
                  <a:pt x="26580700" y="13921641"/>
                </a:lnTo>
                <a:lnTo>
                  <a:pt x="0" y="13921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4" name="Group 4"/>
          <p:cNvGrpSpPr/>
          <p:nvPr/>
        </p:nvGrpSpPr>
        <p:grpSpPr>
          <a:xfrm>
            <a:off x="451313" y="398559"/>
            <a:ext cx="10235737" cy="1565179"/>
            <a:chOff x="0" y="0"/>
            <a:chExt cx="2695832" cy="4122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95832" cy="412228"/>
            </a:xfrm>
            <a:custGeom>
              <a:avLst/>
              <a:gdLst/>
              <a:ahLst/>
              <a:cxnLst/>
              <a:rect l="l" t="t" r="r" b="b"/>
              <a:pathLst>
                <a:path w="2695832" h="412228">
                  <a:moveTo>
                    <a:pt x="0" y="0"/>
                  </a:moveTo>
                  <a:lnTo>
                    <a:pt x="2695832" y="0"/>
                  </a:lnTo>
                  <a:lnTo>
                    <a:pt x="2695832" y="412228"/>
                  </a:lnTo>
                  <a:lnTo>
                    <a:pt x="0" y="4122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695832" cy="459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3713" y="265209"/>
            <a:ext cx="11206141" cy="169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REST: Sequence Diagram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36</a:t>
            </a:r>
          </a:p>
        </p:txBody>
      </p:sp>
      <p:sp>
        <p:nvSpPr>
          <p:cNvPr id="3" name="Freeform 3"/>
          <p:cNvSpPr/>
          <p:nvPr/>
        </p:nvSpPr>
        <p:spPr>
          <a:xfrm>
            <a:off x="2062506" y="1961583"/>
            <a:ext cx="13644815" cy="7146472"/>
          </a:xfrm>
          <a:custGeom>
            <a:avLst/>
            <a:gdLst/>
            <a:ahLst/>
            <a:cxnLst/>
            <a:rect l="l" t="t" r="r" b="b"/>
            <a:pathLst>
              <a:path w="13644815" h="7146472">
                <a:moveTo>
                  <a:pt x="0" y="0"/>
                </a:moveTo>
                <a:lnTo>
                  <a:pt x="13644814" y="0"/>
                </a:lnTo>
                <a:lnTo>
                  <a:pt x="13644814" y="7146472"/>
                </a:lnTo>
                <a:lnTo>
                  <a:pt x="0" y="71464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TextBox 4"/>
          <p:cNvSpPr txBox="1"/>
          <p:nvPr/>
        </p:nvSpPr>
        <p:spPr>
          <a:xfrm>
            <a:off x="451313" y="112809"/>
            <a:ext cx="11206141" cy="169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REST: Sequence Diagram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1313" y="112809"/>
            <a:ext cx="11206141" cy="169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REST: implementation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37</a:t>
            </a: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45701" y="492036"/>
            <a:ext cx="8065593" cy="8766264"/>
          </a:xfrm>
          <a:custGeom>
            <a:avLst/>
            <a:gdLst/>
            <a:ahLst/>
            <a:cxnLst/>
            <a:rect l="l" t="t" r="r" b="b"/>
            <a:pathLst>
              <a:path w="8065593" h="8766264">
                <a:moveTo>
                  <a:pt x="0" y="0"/>
                </a:moveTo>
                <a:lnTo>
                  <a:pt x="8065593" y="0"/>
                </a:lnTo>
                <a:lnTo>
                  <a:pt x="8065593" y="8766264"/>
                </a:lnTo>
                <a:lnTo>
                  <a:pt x="0" y="8766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0" r="-146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451313" y="112809"/>
            <a:ext cx="11206141" cy="169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REST: implementation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38</a:t>
            </a: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728638" y="492036"/>
            <a:ext cx="8065593" cy="8766264"/>
          </a:xfrm>
          <a:custGeom>
            <a:avLst/>
            <a:gdLst/>
            <a:ahLst/>
            <a:cxnLst/>
            <a:rect l="l" t="t" r="r" b="b"/>
            <a:pathLst>
              <a:path w="8065593" h="8766264">
                <a:moveTo>
                  <a:pt x="0" y="0"/>
                </a:moveTo>
                <a:lnTo>
                  <a:pt x="8065593" y="0"/>
                </a:lnTo>
                <a:lnTo>
                  <a:pt x="8065593" y="8766264"/>
                </a:lnTo>
                <a:lnTo>
                  <a:pt x="0" y="8766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0" r="-146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310696" y="3833949"/>
            <a:ext cx="7456517" cy="2619102"/>
          </a:xfrm>
          <a:custGeom>
            <a:avLst/>
            <a:gdLst/>
            <a:ahLst/>
            <a:cxnLst/>
            <a:rect l="l" t="t" r="r" b="b"/>
            <a:pathLst>
              <a:path w="7456517" h="2619102">
                <a:moveTo>
                  <a:pt x="0" y="0"/>
                </a:moveTo>
                <a:lnTo>
                  <a:pt x="7456518" y="0"/>
                </a:lnTo>
                <a:lnTo>
                  <a:pt x="7456518" y="2619102"/>
                </a:lnTo>
                <a:lnTo>
                  <a:pt x="0" y="26191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TextBox 4"/>
          <p:cNvSpPr txBox="1"/>
          <p:nvPr/>
        </p:nvSpPr>
        <p:spPr>
          <a:xfrm>
            <a:off x="451313" y="112809"/>
            <a:ext cx="11206141" cy="169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REST: implementation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39</a:t>
            </a: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1622" y="4290387"/>
            <a:ext cx="7578700" cy="2662018"/>
          </a:xfrm>
          <a:custGeom>
            <a:avLst/>
            <a:gdLst/>
            <a:ahLst/>
            <a:cxnLst/>
            <a:rect l="l" t="t" r="r" b="b"/>
            <a:pathLst>
              <a:path w="7578700" h="2662018">
                <a:moveTo>
                  <a:pt x="0" y="0"/>
                </a:moveTo>
                <a:lnTo>
                  <a:pt x="7578699" y="0"/>
                </a:lnTo>
                <a:lnTo>
                  <a:pt x="7578699" y="2662018"/>
                </a:lnTo>
                <a:lnTo>
                  <a:pt x="0" y="26620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8118504" y="1403238"/>
            <a:ext cx="8662304" cy="4558537"/>
          </a:xfrm>
          <a:custGeom>
            <a:avLst/>
            <a:gdLst/>
            <a:ahLst/>
            <a:cxnLst/>
            <a:rect l="l" t="t" r="r" b="b"/>
            <a:pathLst>
              <a:path w="8662304" h="4558537">
                <a:moveTo>
                  <a:pt x="0" y="0"/>
                </a:moveTo>
                <a:lnTo>
                  <a:pt x="8662304" y="0"/>
                </a:lnTo>
                <a:lnTo>
                  <a:pt x="8662304" y="4558538"/>
                </a:lnTo>
                <a:lnTo>
                  <a:pt x="0" y="45585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TextBox 4"/>
          <p:cNvSpPr txBox="1"/>
          <p:nvPr/>
        </p:nvSpPr>
        <p:spPr>
          <a:xfrm>
            <a:off x="451313" y="112809"/>
            <a:ext cx="11206141" cy="169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REST: implementation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40</a:t>
            </a: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78408" y="3896643"/>
            <a:ext cx="7099544" cy="2493715"/>
          </a:xfrm>
          <a:custGeom>
            <a:avLst/>
            <a:gdLst/>
            <a:ahLst/>
            <a:cxnLst/>
            <a:rect l="l" t="t" r="r" b="b"/>
            <a:pathLst>
              <a:path w="7099544" h="2493715">
                <a:moveTo>
                  <a:pt x="0" y="0"/>
                </a:moveTo>
                <a:lnTo>
                  <a:pt x="7099543" y="0"/>
                </a:lnTo>
                <a:lnTo>
                  <a:pt x="7099543" y="2493714"/>
                </a:lnTo>
                <a:lnTo>
                  <a:pt x="0" y="24937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8250200" y="1227643"/>
            <a:ext cx="8662304" cy="4558537"/>
          </a:xfrm>
          <a:custGeom>
            <a:avLst/>
            <a:gdLst/>
            <a:ahLst/>
            <a:cxnLst/>
            <a:rect l="l" t="t" r="r" b="b"/>
            <a:pathLst>
              <a:path w="8662304" h="4558537">
                <a:moveTo>
                  <a:pt x="0" y="0"/>
                </a:moveTo>
                <a:lnTo>
                  <a:pt x="8662304" y="0"/>
                </a:lnTo>
                <a:lnTo>
                  <a:pt x="8662304" y="4558538"/>
                </a:lnTo>
                <a:lnTo>
                  <a:pt x="0" y="45585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TextBox 4"/>
          <p:cNvSpPr txBox="1"/>
          <p:nvPr/>
        </p:nvSpPr>
        <p:spPr>
          <a:xfrm>
            <a:off x="451313" y="112809"/>
            <a:ext cx="11206141" cy="169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REST: implementation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41</a:t>
            </a:r>
          </a:p>
        </p:txBody>
      </p:sp>
      <p:sp>
        <p:nvSpPr>
          <p:cNvPr id="6" name="Freeform 6"/>
          <p:cNvSpPr/>
          <p:nvPr/>
        </p:nvSpPr>
        <p:spPr>
          <a:xfrm>
            <a:off x="8250200" y="5836226"/>
            <a:ext cx="8662304" cy="3372029"/>
          </a:xfrm>
          <a:custGeom>
            <a:avLst/>
            <a:gdLst/>
            <a:ahLst/>
            <a:cxnLst/>
            <a:rect l="l" t="t" r="r" b="b"/>
            <a:pathLst>
              <a:path w="8662304" h="3372029">
                <a:moveTo>
                  <a:pt x="0" y="0"/>
                </a:moveTo>
                <a:lnTo>
                  <a:pt x="8662304" y="0"/>
                </a:lnTo>
                <a:lnTo>
                  <a:pt x="8662304" y="3372029"/>
                </a:lnTo>
                <a:lnTo>
                  <a:pt x="0" y="33720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464" b="-3464"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87508" y="1999533"/>
            <a:ext cx="9912983" cy="3481935"/>
          </a:xfrm>
          <a:custGeom>
            <a:avLst/>
            <a:gdLst/>
            <a:ahLst/>
            <a:cxnLst/>
            <a:rect l="l" t="t" r="r" b="b"/>
            <a:pathLst>
              <a:path w="9912983" h="3481935">
                <a:moveTo>
                  <a:pt x="0" y="0"/>
                </a:moveTo>
                <a:lnTo>
                  <a:pt x="9912984" y="0"/>
                </a:lnTo>
                <a:lnTo>
                  <a:pt x="9912984" y="3481935"/>
                </a:lnTo>
                <a:lnTo>
                  <a:pt x="0" y="348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451313" y="112809"/>
            <a:ext cx="11206141" cy="169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REST: implementation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42</a:t>
            </a: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87508" y="1967579"/>
            <a:ext cx="9912983" cy="3481935"/>
          </a:xfrm>
          <a:custGeom>
            <a:avLst/>
            <a:gdLst/>
            <a:ahLst/>
            <a:cxnLst/>
            <a:rect l="l" t="t" r="r" b="b"/>
            <a:pathLst>
              <a:path w="9912983" h="3481935">
                <a:moveTo>
                  <a:pt x="0" y="0"/>
                </a:moveTo>
                <a:lnTo>
                  <a:pt x="9912984" y="0"/>
                </a:lnTo>
                <a:lnTo>
                  <a:pt x="9912984" y="3481935"/>
                </a:lnTo>
                <a:lnTo>
                  <a:pt x="0" y="348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3493371" y="7266943"/>
            <a:ext cx="11301259" cy="1836455"/>
          </a:xfrm>
          <a:custGeom>
            <a:avLst/>
            <a:gdLst/>
            <a:ahLst/>
            <a:cxnLst/>
            <a:rect l="l" t="t" r="r" b="b"/>
            <a:pathLst>
              <a:path w="11301259" h="1836455">
                <a:moveTo>
                  <a:pt x="0" y="0"/>
                </a:moveTo>
                <a:lnTo>
                  <a:pt x="11301258" y="0"/>
                </a:lnTo>
                <a:lnTo>
                  <a:pt x="11301258" y="1836455"/>
                </a:lnTo>
                <a:lnTo>
                  <a:pt x="0" y="18364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Freeform 4"/>
          <p:cNvSpPr/>
          <p:nvPr/>
        </p:nvSpPr>
        <p:spPr>
          <a:xfrm rot="5400000">
            <a:off x="8312054" y="6282597"/>
            <a:ext cx="1512629" cy="151263"/>
          </a:xfrm>
          <a:custGeom>
            <a:avLst/>
            <a:gdLst/>
            <a:ahLst/>
            <a:cxnLst/>
            <a:rect l="l" t="t" r="r" b="b"/>
            <a:pathLst>
              <a:path w="1512629" h="151263">
                <a:moveTo>
                  <a:pt x="0" y="0"/>
                </a:moveTo>
                <a:lnTo>
                  <a:pt x="1512629" y="0"/>
                </a:lnTo>
                <a:lnTo>
                  <a:pt x="1512629" y="151263"/>
                </a:lnTo>
                <a:lnTo>
                  <a:pt x="0" y="1512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5" name="Group 5"/>
          <p:cNvGrpSpPr/>
          <p:nvPr/>
        </p:nvGrpSpPr>
        <p:grpSpPr>
          <a:xfrm>
            <a:off x="10117583" y="7712748"/>
            <a:ext cx="4583731" cy="1545552"/>
            <a:chOff x="0" y="0"/>
            <a:chExt cx="1086243" cy="3662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6243" cy="366262"/>
            </a:xfrm>
            <a:custGeom>
              <a:avLst/>
              <a:gdLst/>
              <a:ahLst/>
              <a:cxnLst/>
              <a:rect l="l" t="t" r="r" b="b"/>
              <a:pathLst>
                <a:path w="1086243" h="366262">
                  <a:moveTo>
                    <a:pt x="543121" y="0"/>
                  </a:moveTo>
                  <a:cubicBezTo>
                    <a:pt x="243164" y="0"/>
                    <a:pt x="0" y="81990"/>
                    <a:pt x="0" y="183131"/>
                  </a:cubicBezTo>
                  <a:cubicBezTo>
                    <a:pt x="0" y="284271"/>
                    <a:pt x="243164" y="366262"/>
                    <a:pt x="543121" y="366262"/>
                  </a:cubicBezTo>
                  <a:cubicBezTo>
                    <a:pt x="843079" y="366262"/>
                    <a:pt x="1086243" y="284271"/>
                    <a:pt x="1086243" y="183131"/>
                  </a:cubicBezTo>
                  <a:cubicBezTo>
                    <a:pt x="1086243" y="81990"/>
                    <a:pt x="843079" y="0"/>
                    <a:pt x="543121" y="0"/>
                  </a:cubicBezTo>
                  <a:close/>
                </a:path>
              </a:pathLst>
            </a:custGeom>
            <a:ln w="57150" cap="sq">
              <a:solidFill>
                <a:srgbClr val="F03C2E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835" y="-13288"/>
              <a:ext cx="882572" cy="345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51313" y="112809"/>
            <a:ext cx="11206141" cy="169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REST: implementation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43</a:t>
            </a:r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10049201" y="0"/>
            <a:ext cx="8238799" cy="4825077"/>
            <a:chOff x="0" y="0"/>
            <a:chExt cx="2169889" cy="12708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69889" cy="1270802"/>
            </a:xfrm>
            <a:custGeom>
              <a:avLst/>
              <a:gdLst/>
              <a:ahLst/>
              <a:cxnLst/>
              <a:rect l="l" t="t" r="r" b="b"/>
              <a:pathLst>
                <a:path w="2169889" h="1270802">
                  <a:moveTo>
                    <a:pt x="0" y="0"/>
                  </a:moveTo>
                  <a:lnTo>
                    <a:pt x="2169889" y="0"/>
                  </a:lnTo>
                  <a:lnTo>
                    <a:pt x="2169889" y="1270802"/>
                  </a:lnTo>
                  <a:lnTo>
                    <a:pt x="0" y="1270802"/>
                  </a:lnTo>
                  <a:close/>
                </a:path>
              </a:pathLst>
            </a:custGeom>
            <a:solidFill>
              <a:srgbClr val="EBEBEB">
                <a:alpha val="71765"/>
              </a:srgbClr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69889" cy="13089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34068" y="1402893"/>
            <a:ext cx="1824761" cy="1627278"/>
            <a:chOff x="0" y="0"/>
            <a:chExt cx="884718" cy="7889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4718" cy="788970"/>
            </a:xfrm>
            <a:custGeom>
              <a:avLst/>
              <a:gdLst/>
              <a:ahLst/>
              <a:cxnLst/>
              <a:rect l="l" t="t" r="r" b="b"/>
              <a:pathLst>
                <a:path w="884718" h="788970">
                  <a:moveTo>
                    <a:pt x="216378" y="0"/>
                  </a:moveTo>
                  <a:lnTo>
                    <a:pt x="668340" y="0"/>
                  </a:lnTo>
                  <a:cubicBezTo>
                    <a:pt x="787842" y="0"/>
                    <a:pt x="884718" y="96876"/>
                    <a:pt x="884718" y="216378"/>
                  </a:cubicBezTo>
                  <a:lnTo>
                    <a:pt x="884718" y="572592"/>
                  </a:lnTo>
                  <a:cubicBezTo>
                    <a:pt x="884718" y="692095"/>
                    <a:pt x="787842" y="788970"/>
                    <a:pt x="668340" y="788970"/>
                  </a:cubicBezTo>
                  <a:lnTo>
                    <a:pt x="216378" y="788970"/>
                  </a:lnTo>
                  <a:cubicBezTo>
                    <a:pt x="96876" y="788970"/>
                    <a:pt x="0" y="692095"/>
                    <a:pt x="0" y="572592"/>
                  </a:cubicBezTo>
                  <a:lnTo>
                    <a:pt x="0" y="216378"/>
                  </a:lnTo>
                  <a:cubicBezTo>
                    <a:pt x="0" y="96876"/>
                    <a:pt x="96876" y="0"/>
                    <a:pt x="216378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84718" cy="827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436378" y="1372114"/>
            <a:ext cx="4822922" cy="1015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3"/>
              </a:lnSpc>
            </a:pPr>
            <a:r>
              <a:rPr lang="en-US" sz="5852" b="1">
                <a:solidFill>
                  <a:srgbClr val="191919"/>
                </a:solidFill>
                <a:latin typeface="Georgia Bold"/>
                <a:ea typeface="Georgia Bold"/>
                <a:cs typeface="Georgia Bold"/>
                <a:sym typeface="Georgia Bold"/>
              </a:rPr>
              <a:t>FRONTEND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06113" y="1202868"/>
            <a:ext cx="3675021" cy="1827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48"/>
              </a:lnSpc>
            </a:pPr>
            <a:r>
              <a:rPr lang="en-US" sz="10677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44</a:t>
            </a: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404" y="273000"/>
            <a:ext cx="9144000" cy="1698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External Style Sheets</a:t>
            </a:r>
          </a:p>
          <a:p>
            <a:pPr algn="l">
              <a:lnSpc>
                <a:spcPts val="4770"/>
              </a:lnSpc>
            </a:pPr>
            <a:r>
              <a:rPr lang="en-US" sz="3407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    Bar Application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094003" y="2592980"/>
            <a:ext cx="3318987" cy="1194235"/>
            <a:chOff x="0" y="0"/>
            <a:chExt cx="812800" cy="2924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92461"/>
            </a:xfrm>
            <a:custGeom>
              <a:avLst/>
              <a:gdLst/>
              <a:ahLst/>
              <a:cxnLst/>
              <a:rect l="l" t="t" r="r" b="b"/>
              <a:pathLst>
                <a:path w="812800" h="292461">
                  <a:moveTo>
                    <a:pt x="406400" y="0"/>
                  </a:moveTo>
                  <a:cubicBezTo>
                    <a:pt x="181951" y="0"/>
                    <a:pt x="0" y="65470"/>
                    <a:pt x="0" y="146231"/>
                  </a:cubicBezTo>
                  <a:cubicBezTo>
                    <a:pt x="0" y="226991"/>
                    <a:pt x="181951" y="292461"/>
                    <a:pt x="406400" y="292461"/>
                  </a:cubicBezTo>
                  <a:cubicBezTo>
                    <a:pt x="630849" y="292461"/>
                    <a:pt x="812800" y="226991"/>
                    <a:pt x="812800" y="146231"/>
                  </a:cubicBezTo>
                  <a:cubicBezTo>
                    <a:pt x="812800" y="6547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8AF5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-10682"/>
              <a:ext cx="660400" cy="275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52192" y="4235229"/>
            <a:ext cx="14428904" cy="3944536"/>
          </a:xfrm>
          <a:custGeom>
            <a:avLst/>
            <a:gdLst/>
            <a:ahLst/>
            <a:cxnLst/>
            <a:rect l="l" t="t" r="r" b="b"/>
            <a:pathLst>
              <a:path w="14428904" h="3944536">
                <a:moveTo>
                  <a:pt x="0" y="0"/>
                </a:moveTo>
                <a:lnTo>
                  <a:pt x="14428903" y="0"/>
                </a:lnTo>
                <a:lnTo>
                  <a:pt x="14428903" y="3944536"/>
                </a:lnTo>
                <a:lnTo>
                  <a:pt x="0" y="3944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2526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TextBox 7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95084" y="2848785"/>
            <a:ext cx="3916825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JSP file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164199" y="6501211"/>
            <a:ext cx="13916896" cy="1678554"/>
            <a:chOff x="0" y="0"/>
            <a:chExt cx="3665355" cy="4420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65355" cy="442088"/>
            </a:xfrm>
            <a:custGeom>
              <a:avLst/>
              <a:gdLst/>
              <a:ahLst/>
              <a:cxnLst/>
              <a:rect l="l" t="t" r="r" b="b"/>
              <a:pathLst>
                <a:path w="3665355" h="442088">
                  <a:moveTo>
                    <a:pt x="0" y="0"/>
                  </a:moveTo>
                  <a:lnTo>
                    <a:pt x="3665355" y="0"/>
                  </a:lnTo>
                  <a:lnTo>
                    <a:pt x="3665355" y="442088"/>
                  </a:lnTo>
                  <a:lnTo>
                    <a:pt x="0" y="442088"/>
                  </a:lnTo>
                  <a:close/>
                </a:path>
              </a:pathLst>
            </a:custGeom>
            <a:ln w="57150" cap="sq">
              <a:solidFill>
                <a:srgbClr val="1986CF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665355" cy="480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404" y="273000"/>
            <a:ext cx="9144000" cy="1698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External Style Sheets</a:t>
            </a:r>
          </a:p>
          <a:p>
            <a:pPr algn="l">
              <a:lnSpc>
                <a:spcPts val="4770"/>
              </a:lnSpc>
            </a:pPr>
            <a:r>
              <a:rPr lang="en-US" sz="3407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    Bar Application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10733541" y="1745216"/>
            <a:ext cx="6816272" cy="1863414"/>
          </a:xfrm>
          <a:custGeom>
            <a:avLst/>
            <a:gdLst/>
            <a:ahLst/>
            <a:cxnLst/>
            <a:rect l="l" t="t" r="r" b="b"/>
            <a:pathLst>
              <a:path w="6816272" h="1863414">
                <a:moveTo>
                  <a:pt x="0" y="0"/>
                </a:moveTo>
                <a:lnTo>
                  <a:pt x="6816271" y="0"/>
                </a:lnTo>
                <a:lnTo>
                  <a:pt x="6816271" y="1863414"/>
                </a:lnTo>
                <a:lnTo>
                  <a:pt x="0" y="1863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2526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TextBox 4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46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107068" y="2794821"/>
            <a:ext cx="6442745" cy="659294"/>
            <a:chOff x="0" y="0"/>
            <a:chExt cx="4320173" cy="4420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20173" cy="442088"/>
            </a:xfrm>
            <a:custGeom>
              <a:avLst/>
              <a:gdLst/>
              <a:ahLst/>
              <a:cxnLst/>
              <a:rect l="l" t="t" r="r" b="b"/>
              <a:pathLst>
                <a:path w="4320173" h="442088">
                  <a:moveTo>
                    <a:pt x="0" y="0"/>
                  </a:moveTo>
                  <a:lnTo>
                    <a:pt x="4320173" y="0"/>
                  </a:lnTo>
                  <a:lnTo>
                    <a:pt x="4320173" y="442088"/>
                  </a:lnTo>
                  <a:lnTo>
                    <a:pt x="0" y="442088"/>
                  </a:lnTo>
                  <a:close/>
                </a:path>
              </a:pathLst>
            </a:custGeom>
            <a:ln w="38100" cap="sq">
              <a:solidFill>
                <a:srgbClr val="1986CF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320173" cy="480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91888" y="4421126"/>
            <a:ext cx="16857925" cy="2123335"/>
          </a:xfrm>
          <a:custGeom>
            <a:avLst/>
            <a:gdLst/>
            <a:ahLst/>
            <a:cxnLst/>
            <a:rect l="l" t="t" r="r" b="b"/>
            <a:pathLst>
              <a:path w="16857925" h="2123335">
                <a:moveTo>
                  <a:pt x="0" y="0"/>
                </a:moveTo>
                <a:lnTo>
                  <a:pt x="16857924" y="0"/>
                </a:lnTo>
                <a:lnTo>
                  <a:pt x="16857924" y="2123336"/>
                </a:lnTo>
                <a:lnTo>
                  <a:pt x="0" y="21233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70" t="-115763" r="-36" b="-3670"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9" name="Group 9"/>
          <p:cNvGrpSpPr/>
          <p:nvPr/>
        </p:nvGrpSpPr>
        <p:grpSpPr>
          <a:xfrm>
            <a:off x="1125991" y="4538810"/>
            <a:ext cx="16423821" cy="1733453"/>
            <a:chOff x="0" y="0"/>
            <a:chExt cx="10540857" cy="1112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540857" cy="1112536"/>
            </a:xfrm>
            <a:custGeom>
              <a:avLst/>
              <a:gdLst/>
              <a:ahLst/>
              <a:cxnLst/>
              <a:rect l="l" t="t" r="r" b="b"/>
              <a:pathLst>
                <a:path w="10540857" h="1112536">
                  <a:moveTo>
                    <a:pt x="0" y="0"/>
                  </a:moveTo>
                  <a:lnTo>
                    <a:pt x="10540857" y="0"/>
                  </a:lnTo>
                  <a:lnTo>
                    <a:pt x="10540857" y="1112536"/>
                  </a:lnTo>
                  <a:lnTo>
                    <a:pt x="0" y="1112536"/>
                  </a:lnTo>
                  <a:close/>
                </a:path>
              </a:pathLst>
            </a:custGeom>
            <a:ln w="95250" cap="sq">
              <a:solidFill>
                <a:srgbClr val="1986CF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540857" cy="115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317309" y="7356958"/>
            <a:ext cx="657964" cy="600542"/>
          </a:xfrm>
          <a:custGeom>
            <a:avLst/>
            <a:gdLst/>
            <a:ahLst/>
            <a:cxnLst/>
            <a:rect l="l" t="t" r="r" b="b"/>
            <a:pathLst>
              <a:path w="657964" h="600542">
                <a:moveTo>
                  <a:pt x="0" y="0"/>
                </a:moveTo>
                <a:lnTo>
                  <a:pt x="657964" y="0"/>
                </a:lnTo>
                <a:lnTo>
                  <a:pt x="657964" y="600542"/>
                </a:lnTo>
                <a:lnTo>
                  <a:pt x="0" y="600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3" name="TextBox 13"/>
          <p:cNvSpPr txBox="1"/>
          <p:nvPr/>
        </p:nvSpPr>
        <p:spPr>
          <a:xfrm>
            <a:off x="2417761" y="7420524"/>
            <a:ext cx="2343468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A42D33"/>
                </a:solidFill>
                <a:latin typeface="Georgia"/>
                <a:ea typeface="Georgia"/>
                <a:cs typeface="Georgia"/>
                <a:sym typeface="Georgia"/>
              </a:rPr>
              <a:t>Independency;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17761" y="8492002"/>
            <a:ext cx="270160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A42D33"/>
                </a:solidFill>
                <a:latin typeface="Georgia"/>
                <a:ea typeface="Georgia"/>
                <a:cs typeface="Georgia"/>
                <a:sym typeface="Georgia"/>
              </a:rPr>
              <a:t>Code-separation;</a:t>
            </a:r>
          </a:p>
        </p:txBody>
      </p:sp>
      <p:sp>
        <p:nvSpPr>
          <p:cNvPr id="15" name="Freeform 15"/>
          <p:cNvSpPr/>
          <p:nvPr/>
        </p:nvSpPr>
        <p:spPr>
          <a:xfrm>
            <a:off x="1317309" y="8385023"/>
            <a:ext cx="657964" cy="600542"/>
          </a:xfrm>
          <a:custGeom>
            <a:avLst/>
            <a:gdLst/>
            <a:ahLst/>
            <a:cxnLst/>
            <a:rect l="l" t="t" r="r" b="b"/>
            <a:pathLst>
              <a:path w="657964" h="600542">
                <a:moveTo>
                  <a:pt x="0" y="0"/>
                </a:moveTo>
                <a:lnTo>
                  <a:pt x="657964" y="0"/>
                </a:lnTo>
                <a:lnTo>
                  <a:pt x="657964" y="600542"/>
                </a:lnTo>
                <a:lnTo>
                  <a:pt x="0" y="600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6" name="Freeform 16"/>
          <p:cNvSpPr/>
          <p:nvPr/>
        </p:nvSpPr>
        <p:spPr>
          <a:xfrm>
            <a:off x="6374852" y="7356958"/>
            <a:ext cx="657964" cy="600542"/>
          </a:xfrm>
          <a:custGeom>
            <a:avLst/>
            <a:gdLst/>
            <a:ahLst/>
            <a:cxnLst/>
            <a:rect l="l" t="t" r="r" b="b"/>
            <a:pathLst>
              <a:path w="657964" h="600542">
                <a:moveTo>
                  <a:pt x="0" y="0"/>
                </a:moveTo>
                <a:lnTo>
                  <a:pt x="657965" y="0"/>
                </a:lnTo>
                <a:lnTo>
                  <a:pt x="657965" y="600542"/>
                </a:lnTo>
                <a:lnTo>
                  <a:pt x="0" y="600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7" name="TextBox 17"/>
          <p:cNvSpPr txBox="1"/>
          <p:nvPr/>
        </p:nvSpPr>
        <p:spPr>
          <a:xfrm>
            <a:off x="7499450" y="7420524"/>
            <a:ext cx="187658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A42D33"/>
                </a:solidFill>
                <a:latin typeface="Georgia"/>
                <a:ea typeface="Georgia"/>
                <a:cs typeface="Georgia"/>
                <a:sym typeface="Georgia"/>
              </a:rPr>
              <a:t>Reusability;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99450" y="8580902"/>
            <a:ext cx="2994025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A42D33"/>
                </a:solidFill>
                <a:latin typeface="Georgia"/>
                <a:ea typeface="Georgia"/>
                <a:cs typeface="Georgia"/>
                <a:sym typeface="Georgia"/>
              </a:rPr>
              <a:t>Reduce repetition; </a:t>
            </a:r>
          </a:p>
        </p:txBody>
      </p:sp>
      <p:sp>
        <p:nvSpPr>
          <p:cNvPr id="19" name="Freeform 19"/>
          <p:cNvSpPr/>
          <p:nvPr/>
        </p:nvSpPr>
        <p:spPr>
          <a:xfrm>
            <a:off x="6374852" y="8471215"/>
            <a:ext cx="657964" cy="600542"/>
          </a:xfrm>
          <a:custGeom>
            <a:avLst/>
            <a:gdLst/>
            <a:ahLst/>
            <a:cxnLst/>
            <a:rect l="l" t="t" r="r" b="b"/>
            <a:pathLst>
              <a:path w="657964" h="600542">
                <a:moveTo>
                  <a:pt x="0" y="0"/>
                </a:moveTo>
                <a:lnTo>
                  <a:pt x="657965" y="0"/>
                </a:lnTo>
                <a:lnTo>
                  <a:pt x="657965" y="600542"/>
                </a:lnTo>
                <a:lnTo>
                  <a:pt x="0" y="600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0" name="Freeform 20"/>
          <p:cNvSpPr/>
          <p:nvPr/>
        </p:nvSpPr>
        <p:spPr>
          <a:xfrm>
            <a:off x="11843074" y="7443785"/>
            <a:ext cx="657964" cy="600542"/>
          </a:xfrm>
          <a:custGeom>
            <a:avLst/>
            <a:gdLst/>
            <a:ahLst/>
            <a:cxnLst/>
            <a:rect l="l" t="t" r="r" b="b"/>
            <a:pathLst>
              <a:path w="657964" h="600542">
                <a:moveTo>
                  <a:pt x="0" y="0"/>
                </a:moveTo>
                <a:lnTo>
                  <a:pt x="657965" y="0"/>
                </a:lnTo>
                <a:lnTo>
                  <a:pt x="657965" y="600542"/>
                </a:lnTo>
                <a:lnTo>
                  <a:pt x="0" y="600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1" name="TextBox 21"/>
          <p:cNvSpPr txBox="1"/>
          <p:nvPr/>
        </p:nvSpPr>
        <p:spPr>
          <a:xfrm>
            <a:off x="12967764" y="7466645"/>
            <a:ext cx="321770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A42D33"/>
                </a:solidFill>
                <a:latin typeface="Georgia"/>
                <a:ea typeface="Georgia"/>
                <a:cs typeface="Georgia"/>
                <a:sym typeface="Georgia"/>
              </a:rPr>
              <a:t>Easier maintenance;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967764" y="8618619"/>
            <a:ext cx="1993583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A42D33"/>
                </a:solidFill>
                <a:latin typeface="Georgia"/>
                <a:ea typeface="Georgia"/>
                <a:cs typeface="Georgia"/>
                <a:sym typeface="Georgia"/>
              </a:rPr>
              <a:t>Consistency;</a:t>
            </a:r>
          </a:p>
        </p:txBody>
      </p:sp>
      <p:sp>
        <p:nvSpPr>
          <p:cNvPr id="23" name="Freeform 23"/>
          <p:cNvSpPr/>
          <p:nvPr/>
        </p:nvSpPr>
        <p:spPr>
          <a:xfrm>
            <a:off x="11843074" y="8485587"/>
            <a:ext cx="657964" cy="600542"/>
          </a:xfrm>
          <a:custGeom>
            <a:avLst/>
            <a:gdLst/>
            <a:ahLst/>
            <a:cxnLst/>
            <a:rect l="l" t="t" r="r" b="b"/>
            <a:pathLst>
              <a:path w="657964" h="600542">
                <a:moveTo>
                  <a:pt x="0" y="0"/>
                </a:moveTo>
                <a:lnTo>
                  <a:pt x="657965" y="0"/>
                </a:lnTo>
                <a:lnTo>
                  <a:pt x="657965" y="600542"/>
                </a:lnTo>
                <a:lnTo>
                  <a:pt x="0" y="600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p:transition spd="slow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7576" y="2211328"/>
            <a:ext cx="11490793" cy="7046972"/>
          </a:xfrm>
          <a:custGeom>
            <a:avLst/>
            <a:gdLst/>
            <a:ahLst/>
            <a:cxnLst/>
            <a:rect l="l" t="t" r="r" b="b"/>
            <a:pathLst>
              <a:path w="11490793" h="7046972">
                <a:moveTo>
                  <a:pt x="0" y="0"/>
                </a:moveTo>
                <a:lnTo>
                  <a:pt x="11490794" y="0"/>
                </a:lnTo>
                <a:lnTo>
                  <a:pt x="11490794" y="7046972"/>
                </a:lnTo>
                <a:lnTo>
                  <a:pt x="0" y="7046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303"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7197996" y="3817630"/>
            <a:ext cx="4885755" cy="5440670"/>
            <a:chOff x="0" y="0"/>
            <a:chExt cx="1286783" cy="14329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6783" cy="1432934"/>
            </a:xfrm>
            <a:custGeom>
              <a:avLst/>
              <a:gdLst/>
              <a:ahLst/>
              <a:cxnLst/>
              <a:rect l="l" t="t" r="r" b="b"/>
              <a:pathLst>
                <a:path w="1286783" h="1432934">
                  <a:moveTo>
                    <a:pt x="0" y="0"/>
                  </a:moveTo>
                  <a:lnTo>
                    <a:pt x="1286783" y="0"/>
                  </a:lnTo>
                  <a:lnTo>
                    <a:pt x="1286783" y="1432934"/>
                  </a:lnTo>
                  <a:lnTo>
                    <a:pt x="0" y="1432934"/>
                  </a:lnTo>
                  <a:close/>
                </a:path>
              </a:pathLst>
            </a:custGeom>
            <a:ln w="57150" cap="sq">
              <a:solidFill>
                <a:srgbClr val="1986CF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86783" cy="1471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391177" y="760876"/>
            <a:ext cx="5616956" cy="7123915"/>
          </a:xfrm>
          <a:custGeom>
            <a:avLst/>
            <a:gdLst/>
            <a:ahLst/>
            <a:cxnLst/>
            <a:rect l="l" t="t" r="r" b="b"/>
            <a:pathLst>
              <a:path w="5616956" h="7123915">
                <a:moveTo>
                  <a:pt x="0" y="0"/>
                </a:moveTo>
                <a:lnTo>
                  <a:pt x="5616956" y="0"/>
                </a:lnTo>
                <a:lnTo>
                  <a:pt x="5616956" y="7123915"/>
                </a:lnTo>
                <a:lnTo>
                  <a:pt x="0" y="71239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48" r="-104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7714853" y="460713"/>
            <a:ext cx="808683" cy="1163572"/>
          </a:xfrm>
          <a:custGeom>
            <a:avLst/>
            <a:gdLst/>
            <a:ahLst/>
            <a:cxnLst/>
            <a:rect l="l" t="t" r="r" b="b"/>
            <a:pathLst>
              <a:path w="808683" h="1163572">
                <a:moveTo>
                  <a:pt x="0" y="0"/>
                </a:moveTo>
                <a:lnTo>
                  <a:pt x="808682" y="0"/>
                </a:lnTo>
                <a:lnTo>
                  <a:pt x="808682" y="1163572"/>
                </a:lnTo>
                <a:lnTo>
                  <a:pt x="0" y="11635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TextBox 8"/>
          <p:cNvSpPr txBox="1"/>
          <p:nvPr/>
        </p:nvSpPr>
        <p:spPr>
          <a:xfrm>
            <a:off x="597576" y="131274"/>
            <a:ext cx="7223151" cy="168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539"/>
              </a:lnSpc>
            </a:pPr>
            <a:r>
              <a:rPr lang="en-US" sz="6099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Responsiveness</a:t>
            </a:r>
          </a:p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47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610327" y="417596"/>
            <a:ext cx="3473424" cy="1249805"/>
            <a:chOff x="0" y="0"/>
            <a:chExt cx="812800" cy="29246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292461"/>
            </a:xfrm>
            <a:custGeom>
              <a:avLst/>
              <a:gdLst/>
              <a:ahLst/>
              <a:cxnLst/>
              <a:rect l="l" t="t" r="r" b="b"/>
              <a:pathLst>
                <a:path w="812800" h="292461">
                  <a:moveTo>
                    <a:pt x="406400" y="0"/>
                  </a:moveTo>
                  <a:cubicBezTo>
                    <a:pt x="181951" y="0"/>
                    <a:pt x="0" y="65470"/>
                    <a:pt x="0" y="146231"/>
                  </a:cubicBezTo>
                  <a:cubicBezTo>
                    <a:pt x="0" y="226991"/>
                    <a:pt x="181951" y="292461"/>
                    <a:pt x="406400" y="292461"/>
                  </a:cubicBezTo>
                  <a:cubicBezTo>
                    <a:pt x="630849" y="292461"/>
                    <a:pt x="812800" y="226991"/>
                    <a:pt x="812800" y="146231"/>
                  </a:cubicBezTo>
                  <a:cubicBezTo>
                    <a:pt x="812800" y="6547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8AF5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-10682"/>
              <a:ext cx="660400" cy="275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8388627" y="684676"/>
            <a:ext cx="3916825" cy="63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Media Query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48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-893102" y="112809"/>
            <a:ext cx="9104755" cy="1698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Some examples</a:t>
            </a:r>
          </a:p>
          <a:p>
            <a:pPr algn="l">
              <a:lnSpc>
                <a:spcPts val="4770"/>
              </a:lnSpc>
            </a:pPr>
            <a:r>
              <a:rPr lang="en-US" sz="3407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             Bar Application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946" y="74001"/>
            <a:ext cx="11456386" cy="8028169"/>
          </a:xfrm>
          <a:prstGeom prst="rect">
            <a:avLst/>
          </a:prstGeom>
        </p:spPr>
      </p:pic>
    </p:spTree>
  </p:cSld>
  <p:clrMapOvr>
    <a:masterClrMapping/>
  </p:clrMapOvr>
  <p:transition spd="med">
    <p:circl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893102" y="112809"/>
            <a:ext cx="9104755" cy="1698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Some examples</a:t>
            </a:r>
          </a:p>
          <a:p>
            <a:pPr algn="l">
              <a:lnSpc>
                <a:spcPts val="4770"/>
              </a:lnSpc>
            </a:pPr>
            <a:r>
              <a:rPr lang="en-US" sz="3407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             Bar Application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946" y="74001"/>
            <a:ext cx="11456386" cy="8028169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1060" y="2646681"/>
            <a:ext cx="10371460" cy="762672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49</a:t>
            </a:r>
          </a:p>
        </p:txBody>
      </p: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50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-893102" y="112809"/>
            <a:ext cx="9104755" cy="1698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50"/>
              </a:lnSpc>
            </a:pPr>
            <a:r>
              <a:rPr lang="en-US" sz="6107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Some examples</a:t>
            </a:r>
          </a:p>
          <a:p>
            <a:pPr algn="l">
              <a:lnSpc>
                <a:spcPts val="4770"/>
              </a:lnSpc>
            </a:pPr>
            <a:r>
              <a:rPr lang="en-US" sz="3407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             Bar Application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946" y="74001"/>
            <a:ext cx="11456386" cy="802816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1060" y="2646681"/>
            <a:ext cx="10371460" cy="762672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385" y="407517"/>
            <a:ext cx="6383229" cy="1077761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59" b="-9259"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10049201" y="0"/>
            <a:ext cx="8238799" cy="4628854"/>
            <a:chOff x="0" y="0"/>
            <a:chExt cx="2169889" cy="12191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69889" cy="1219122"/>
            </a:xfrm>
            <a:custGeom>
              <a:avLst/>
              <a:gdLst/>
              <a:ahLst/>
              <a:cxnLst/>
              <a:rect l="l" t="t" r="r" b="b"/>
              <a:pathLst>
                <a:path w="2169889" h="1219122">
                  <a:moveTo>
                    <a:pt x="0" y="0"/>
                  </a:moveTo>
                  <a:lnTo>
                    <a:pt x="2169889" y="0"/>
                  </a:lnTo>
                  <a:lnTo>
                    <a:pt x="2169889" y="1219122"/>
                  </a:lnTo>
                  <a:lnTo>
                    <a:pt x="0" y="1219122"/>
                  </a:lnTo>
                  <a:close/>
                </a:path>
              </a:pathLst>
            </a:custGeom>
            <a:solidFill>
              <a:srgbClr val="EBEBEB">
                <a:alpha val="71765"/>
              </a:srgbClr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69889" cy="12572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34068" y="1402893"/>
            <a:ext cx="1824761" cy="1627278"/>
            <a:chOff x="0" y="0"/>
            <a:chExt cx="884718" cy="7889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4718" cy="788970"/>
            </a:xfrm>
            <a:custGeom>
              <a:avLst/>
              <a:gdLst/>
              <a:ahLst/>
              <a:cxnLst/>
              <a:rect l="l" t="t" r="r" b="b"/>
              <a:pathLst>
                <a:path w="884718" h="788970">
                  <a:moveTo>
                    <a:pt x="216378" y="0"/>
                  </a:moveTo>
                  <a:lnTo>
                    <a:pt x="668340" y="0"/>
                  </a:lnTo>
                  <a:cubicBezTo>
                    <a:pt x="787842" y="0"/>
                    <a:pt x="884718" y="96876"/>
                    <a:pt x="884718" y="216378"/>
                  </a:cubicBezTo>
                  <a:lnTo>
                    <a:pt x="884718" y="572592"/>
                  </a:lnTo>
                  <a:cubicBezTo>
                    <a:pt x="884718" y="692095"/>
                    <a:pt x="787842" y="788970"/>
                    <a:pt x="668340" y="788970"/>
                  </a:cubicBezTo>
                  <a:lnTo>
                    <a:pt x="216378" y="788970"/>
                  </a:lnTo>
                  <a:cubicBezTo>
                    <a:pt x="96876" y="788970"/>
                    <a:pt x="0" y="692095"/>
                    <a:pt x="0" y="572592"/>
                  </a:cubicBezTo>
                  <a:lnTo>
                    <a:pt x="0" y="216378"/>
                  </a:lnTo>
                  <a:cubicBezTo>
                    <a:pt x="0" y="96876"/>
                    <a:pt x="96876" y="0"/>
                    <a:pt x="216378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84718" cy="827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436378" y="1391164"/>
            <a:ext cx="4822922" cy="90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53"/>
              </a:lnSpc>
            </a:pPr>
            <a:r>
              <a:rPr lang="en-US" sz="5252" b="1">
                <a:solidFill>
                  <a:srgbClr val="191919"/>
                </a:solidFill>
                <a:latin typeface="Georgia Bold"/>
                <a:ea typeface="Georgia Bold"/>
                <a:cs typeface="Georgia Bold"/>
                <a:sym typeface="Georgia Bold"/>
              </a:rPr>
              <a:t>DEMO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06113" y="1202868"/>
            <a:ext cx="3675021" cy="1827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48"/>
              </a:lnSpc>
            </a:pPr>
            <a:r>
              <a:rPr lang="en-US" sz="10677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10049201" y="0"/>
            <a:ext cx="8238799" cy="4687721"/>
            <a:chOff x="0" y="0"/>
            <a:chExt cx="2169889" cy="12346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69889" cy="1234626"/>
            </a:xfrm>
            <a:custGeom>
              <a:avLst/>
              <a:gdLst/>
              <a:ahLst/>
              <a:cxnLst/>
              <a:rect l="l" t="t" r="r" b="b"/>
              <a:pathLst>
                <a:path w="2169889" h="1234626">
                  <a:moveTo>
                    <a:pt x="0" y="0"/>
                  </a:moveTo>
                  <a:lnTo>
                    <a:pt x="2169889" y="0"/>
                  </a:lnTo>
                  <a:lnTo>
                    <a:pt x="2169889" y="1234626"/>
                  </a:lnTo>
                  <a:lnTo>
                    <a:pt x="0" y="1234626"/>
                  </a:lnTo>
                  <a:close/>
                </a:path>
              </a:pathLst>
            </a:custGeom>
            <a:solidFill>
              <a:srgbClr val="EBEBEB">
                <a:alpha val="71765"/>
              </a:srgbClr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69889" cy="12727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34068" y="1402893"/>
            <a:ext cx="1824761" cy="1627278"/>
            <a:chOff x="0" y="0"/>
            <a:chExt cx="884718" cy="7889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4718" cy="788970"/>
            </a:xfrm>
            <a:custGeom>
              <a:avLst/>
              <a:gdLst/>
              <a:ahLst/>
              <a:cxnLst/>
              <a:rect l="l" t="t" r="r" b="b"/>
              <a:pathLst>
                <a:path w="884718" h="788970">
                  <a:moveTo>
                    <a:pt x="216378" y="0"/>
                  </a:moveTo>
                  <a:lnTo>
                    <a:pt x="668340" y="0"/>
                  </a:lnTo>
                  <a:cubicBezTo>
                    <a:pt x="787842" y="0"/>
                    <a:pt x="884718" y="96876"/>
                    <a:pt x="884718" y="216378"/>
                  </a:cubicBezTo>
                  <a:lnTo>
                    <a:pt x="884718" y="572592"/>
                  </a:lnTo>
                  <a:cubicBezTo>
                    <a:pt x="884718" y="692095"/>
                    <a:pt x="787842" y="788970"/>
                    <a:pt x="668340" y="788970"/>
                  </a:cubicBezTo>
                  <a:lnTo>
                    <a:pt x="216378" y="788970"/>
                  </a:lnTo>
                  <a:cubicBezTo>
                    <a:pt x="96876" y="788970"/>
                    <a:pt x="0" y="692095"/>
                    <a:pt x="0" y="572592"/>
                  </a:cubicBezTo>
                  <a:lnTo>
                    <a:pt x="0" y="216378"/>
                  </a:lnTo>
                  <a:cubicBezTo>
                    <a:pt x="0" y="96876"/>
                    <a:pt x="96876" y="0"/>
                    <a:pt x="216378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84718" cy="8270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436378" y="1400689"/>
            <a:ext cx="5581105" cy="162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5"/>
              </a:lnSpc>
            </a:pPr>
            <a:r>
              <a:rPr lang="en-US" sz="4689" b="1">
                <a:solidFill>
                  <a:srgbClr val="191919"/>
                </a:solidFill>
                <a:latin typeface="Georgia Bold"/>
                <a:ea typeface="Georgia Bold"/>
                <a:cs typeface="Georgia Bold"/>
                <a:sym typeface="Georgia Bold"/>
              </a:rPr>
              <a:t>MEMBER CONTRIBUTIONS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06113" y="1202868"/>
            <a:ext cx="3675021" cy="1827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48"/>
              </a:lnSpc>
            </a:pPr>
            <a:r>
              <a:rPr lang="en-US" sz="10677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2852" y="2259226"/>
            <a:ext cx="1794769" cy="179476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t="-16666" b="-16666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7028462" y="2644010"/>
            <a:ext cx="1641828" cy="91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Foffano </a:t>
            </a:r>
          </a:p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Claudia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4062644" y="2271769"/>
            <a:ext cx="1789932" cy="1862576"/>
            <a:chOff x="0" y="0"/>
            <a:chExt cx="781099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81099" cy="812800"/>
            </a:xfrm>
            <a:custGeom>
              <a:avLst/>
              <a:gdLst/>
              <a:ahLst/>
              <a:cxnLst/>
              <a:rect l="l" t="t" r="r" b="b"/>
              <a:pathLst>
                <a:path w="781099" h="812800">
                  <a:moveTo>
                    <a:pt x="390550" y="0"/>
                  </a:moveTo>
                  <a:cubicBezTo>
                    <a:pt x="174855" y="0"/>
                    <a:pt x="0" y="181951"/>
                    <a:pt x="0" y="406400"/>
                  </a:cubicBezTo>
                  <a:cubicBezTo>
                    <a:pt x="0" y="630849"/>
                    <a:pt x="174855" y="812800"/>
                    <a:pt x="390550" y="812800"/>
                  </a:cubicBezTo>
                  <a:cubicBezTo>
                    <a:pt x="606244" y="812800"/>
                    <a:pt x="781099" y="630849"/>
                    <a:pt x="781099" y="406400"/>
                  </a:cubicBezTo>
                  <a:cubicBezTo>
                    <a:pt x="781099" y="181951"/>
                    <a:pt x="606244" y="0"/>
                    <a:pt x="390550" y="0"/>
                  </a:cubicBezTo>
                  <a:close/>
                </a:path>
              </a:pathLst>
            </a:custGeom>
            <a:blipFill>
              <a:blip r:embed="rId4"/>
              <a:stretch>
                <a:fillRect t="-2932" b="-41578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018058" y="2712202"/>
            <a:ext cx="1436967" cy="91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Nuñez </a:t>
            </a:r>
          </a:p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Luis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294156" y="2306992"/>
            <a:ext cx="1792130" cy="179213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27028" t="-73989" r="-67029" b="-84753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341082" y="2642119"/>
            <a:ext cx="1949119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Iacobet </a:t>
            </a:r>
          </a:p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Ecaterina</a:t>
            </a:r>
          </a:p>
          <a:p>
            <a:pPr algn="l">
              <a:lnSpc>
                <a:spcPts val="4759"/>
              </a:lnSpc>
            </a:pPr>
            <a:endParaRPr lang="en-US" sz="2599" b="1">
              <a:solidFill>
                <a:srgbClr val="000000"/>
              </a:solidFill>
              <a:latin typeface="Georgia Bold"/>
              <a:ea typeface="Georgia Bold"/>
              <a:cs typeface="Georgia Bold"/>
              <a:sym typeface="Georgia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43218" y="2237480"/>
            <a:ext cx="1786460" cy="1838262"/>
            <a:chOff x="0" y="0"/>
            <a:chExt cx="835558" cy="8597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35558" cy="859787"/>
            </a:xfrm>
            <a:custGeom>
              <a:avLst/>
              <a:gdLst/>
              <a:ahLst/>
              <a:cxnLst/>
              <a:rect l="l" t="t" r="r" b="b"/>
              <a:pathLst>
                <a:path w="835558" h="859787">
                  <a:moveTo>
                    <a:pt x="417779" y="0"/>
                  </a:moveTo>
                  <a:cubicBezTo>
                    <a:pt x="187046" y="0"/>
                    <a:pt x="0" y="192470"/>
                    <a:pt x="0" y="429894"/>
                  </a:cubicBezTo>
                  <a:cubicBezTo>
                    <a:pt x="0" y="667317"/>
                    <a:pt x="187046" y="859787"/>
                    <a:pt x="417779" y="859787"/>
                  </a:cubicBezTo>
                  <a:cubicBezTo>
                    <a:pt x="648512" y="859787"/>
                    <a:pt x="835558" y="667317"/>
                    <a:pt x="835558" y="429894"/>
                  </a:cubicBezTo>
                  <a:cubicBezTo>
                    <a:pt x="835558" y="192470"/>
                    <a:pt x="648512" y="0"/>
                    <a:pt x="417779" y="0"/>
                  </a:cubicBezTo>
                  <a:close/>
                </a:path>
              </a:pathLst>
            </a:custGeom>
            <a:blipFill>
              <a:blip r:embed="rId6"/>
              <a:stretch>
                <a:fillRect l="-12388" t="-66296" r="-78864" b="-81521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691603" y="2665756"/>
            <a:ext cx="1735963" cy="91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Bruzzese </a:t>
            </a:r>
          </a:p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Fulvio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63391" y="973748"/>
            <a:ext cx="15324609" cy="755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38"/>
              </a:lnSpc>
            </a:pPr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6979" y="117475"/>
            <a:ext cx="7223151" cy="168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9"/>
              </a:lnSpc>
            </a:pPr>
            <a:r>
              <a:rPr lang="en-US" sz="6099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Contribution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A42D33"/>
                </a:solidFill>
                <a:latin typeface="Georgia Bold"/>
                <a:ea typeface="Georgia Bold"/>
                <a:cs typeface="Georgia Bold"/>
                <a:sym typeface="Georgia Bold"/>
              </a:rPr>
              <a:t>Bar Application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6979" y="973748"/>
            <a:ext cx="3751224" cy="413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0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820544" y="4320279"/>
            <a:ext cx="2845789" cy="4105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4091"/>
              </a:lnSpc>
              <a:buFont typeface="Arial"/>
              <a:buChar char="•"/>
            </a:pPr>
            <a:r>
              <a:rPr lang="en-US" sz="2199" spc="116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Reservation Management Service</a:t>
            </a:r>
          </a:p>
          <a:p>
            <a:pPr marL="474979" lvl="1" indent="-237490" algn="l">
              <a:lnSpc>
                <a:spcPts val="4091"/>
              </a:lnSpc>
              <a:buFont typeface="Arial"/>
              <a:buChar char="•"/>
            </a:pPr>
            <a:r>
              <a:rPr lang="en-US" sz="2199" spc="116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Review  Management Service</a:t>
            </a:r>
          </a:p>
          <a:p>
            <a:pPr marL="474979" lvl="1" indent="-237490" algn="l">
              <a:lnSpc>
                <a:spcPts val="4091"/>
              </a:lnSpc>
              <a:buFont typeface="Arial"/>
              <a:buChar char="•"/>
            </a:pPr>
            <a:r>
              <a:rPr lang="en-US" sz="2199" spc="116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Supply Management Service</a:t>
            </a:r>
          </a:p>
          <a:p>
            <a:pPr marL="474979" lvl="1" indent="-237490" algn="l">
              <a:lnSpc>
                <a:spcPts val="4091"/>
              </a:lnSpc>
              <a:buFont typeface="Arial"/>
              <a:buChar char="•"/>
            </a:pPr>
            <a:r>
              <a:rPr lang="en-US" sz="2199" spc="116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Order Items Service</a:t>
            </a:r>
          </a:p>
          <a:p>
            <a:pPr algn="l">
              <a:lnSpc>
                <a:spcPts val="4356"/>
              </a:lnSpc>
            </a:pPr>
            <a:endParaRPr lang="en-US" sz="2199" spc="116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112753" y="4320279"/>
            <a:ext cx="2736624" cy="3613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4091"/>
              </a:lnSpc>
              <a:buFont typeface="Arial"/>
              <a:buChar char="•"/>
            </a:pPr>
            <a:r>
              <a:rPr lang="en-US" sz="2199" spc="116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Landing Page</a:t>
            </a:r>
          </a:p>
          <a:p>
            <a:pPr marL="486308" lvl="1" indent="-243154" algn="l">
              <a:lnSpc>
                <a:spcPts val="4189"/>
              </a:lnSpc>
              <a:buFont typeface="Arial"/>
              <a:buChar char="•"/>
            </a:pPr>
            <a:r>
              <a:rPr lang="en-US" sz="2252" spc="11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Login Service</a:t>
            </a:r>
          </a:p>
          <a:p>
            <a:pPr marL="486308" lvl="1" indent="-243154" algn="l">
              <a:lnSpc>
                <a:spcPts val="4189"/>
              </a:lnSpc>
              <a:buFont typeface="Arial"/>
              <a:buChar char="•"/>
            </a:pPr>
            <a:r>
              <a:rPr lang="en-US" sz="2252" spc="11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Sign Up Service</a:t>
            </a:r>
          </a:p>
          <a:p>
            <a:pPr marL="486308" lvl="1" indent="-243154" algn="l">
              <a:lnSpc>
                <a:spcPts val="4189"/>
              </a:lnSpc>
              <a:buFont typeface="Arial"/>
              <a:buChar char="•"/>
            </a:pPr>
            <a:r>
              <a:rPr lang="en-US" sz="2252" spc="11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Create Supply Management  Service</a:t>
            </a:r>
          </a:p>
          <a:p>
            <a:pPr algn="l">
              <a:lnSpc>
                <a:spcPts val="4189"/>
              </a:lnSpc>
            </a:pPr>
            <a:endParaRPr lang="en-US" sz="2252" spc="119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294156" y="4320279"/>
            <a:ext cx="2669678" cy="4094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411" lvl="1" indent="-237206" algn="l">
              <a:lnSpc>
                <a:spcPts val="4087"/>
              </a:lnSpc>
              <a:buFont typeface="Arial"/>
              <a:buChar char="•"/>
            </a:pPr>
            <a:r>
              <a:rPr lang="en-US" sz="2197" spc="116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Shift management service</a:t>
            </a:r>
          </a:p>
          <a:p>
            <a:pPr marL="474411" lvl="1" indent="-237206" algn="l">
              <a:lnSpc>
                <a:spcPts val="4087"/>
              </a:lnSpc>
              <a:buFont typeface="Arial"/>
              <a:buChar char="•"/>
            </a:pPr>
            <a:r>
              <a:rPr lang="en-US" sz="2197" spc="116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Home Page representation</a:t>
            </a:r>
          </a:p>
          <a:p>
            <a:pPr marL="474411" lvl="1" indent="-237206" algn="l">
              <a:lnSpc>
                <a:spcPts val="4087"/>
              </a:lnSpc>
              <a:buFont typeface="Arial"/>
              <a:buChar char="•"/>
            </a:pPr>
            <a:r>
              <a:rPr lang="en-US" sz="2197" spc="116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Supply Management service</a:t>
            </a:r>
          </a:p>
          <a:p>
            <a:pPr marL="474411" lvl="1" indent="-237206" algn="l">
              <a:lnSpc>
                <a:spcPts val="4087"/>
              </a:lnSpc>
              <a:buFont typeface="Arial"/>
              <a:buChar char="•"/>
            </a:pPr>
            <a:r>
              <a:rPr lang="en-US" sz="2197" spc="116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common components</a:t>
            </a:r>
          </a:p>
          <a:p>
            <a:pPr algn="l">
              <a:lnSpc>
                <a:spcPts val="4087"/>
              </a:lnSpc>
            </a:pPr>
            <a:endParaRPr lang="en-US" sz="2197" spc="116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4281290" y="4320279"/>
            <a:ext cx="2791023" cy="3559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384" lvl="1" indent="-237192" algn="l">
              <a:lnSpc>
                <a:spcPts val="4086"/>
              </a:lnSpc>
              <a:buFont typeface="Arial"/>
              <a:buChar char="•"/>
            </a:pPr>
            <a:r>
              <a:rPr lang="en-US" sz="2197" spc="116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Order Management Service</a:t>
            </a:r>
          </a:p>
          <a:p>
            <a:pPr marL="474384" lvl="1" indent="-237192" algn="l">
              <a:lnSpc>
                <a:spcPts val="4086"/>
              </a:lnSpc>
              <a:buFont typeface="Arial"/>
              <a:buChar char="•"/>
            </a:pPr>
            <a:r>
              <a:rPr lang="en-US" sz="2197" spc="116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Waiter Review Service</a:t>
            </a:r>
          </a:p>
          <a:p>
            <a:pPr marL="474384" lvl="1" indent="-237192" algn="l">
              <a:lnSpc>
                <a:spcPts val="4086"/>
              </a:lnSpc>
              <a:buFont typeface="Arial"/>
              <a:buChar char="•"/>
            </a:pPr>
            <a:r>
              <a:rPr lang="en-US" sz="2197" spc="116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search Order Service</a:t>
            </a:r>
          </a:p>
          <a:p>
            <a:pPr marL="474384" lvl="1" indent="-237192" algn="l">
              <a:lnSpc>
                <a:spcPts val="4086"/>
              </a:lnSpc>
              <a:buFont typeface="Arial"/>
              <a:buChar char="•"/>
            </a:pPr>
            <a:r>
              <a:rPr lang="en-US" sz="2197" spc="116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Waiter Shifts Service</a:t>
            </a:r>
          </a:p>
          <a:p>
            <a:pPr algn="l">
              <a:lnSpc>
                <a:spcPts val="4086"/>
              </a:lnSpc>
            </a:pPr>
            <a:endParaRPr lang="en-US" sz="2197" spc="116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766004" y="3612319"/>
            <a:ext cx="9082479" cy="214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29"/>
              </a:lnSpc>
            </a:pPr>
            <a:r>
              <a:rPr lang="en-US" sz="6092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Thank you for </a:t>
            </a:r>
          </a:p>
          <a:p>
            <a:pPr algn="ctr">
              <a:lnSpc>
                <a:spcPts val="8529"/>
              </a:lnSpc>
            </a:pPr>
            <a:r>
              <a:rPr lang="en-US" sz="6092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your attention!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56206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1248</Words>
  <Application>Microsoft Office PowerPoint</Application>
  <PresentationFormat>Personalizado</PresentationFormat>
  <Paragraphs>422</Paragraphs>
  <Slides>55</Slides>
  <Notes>44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55</vt:i4>
      </vt:variant>
    </vt:vector>
  </HeadingPairs>
  <TitlesOfParts>
    <vt:vector size="64" baseType="lpstr">
      <vt:lpstr>Calibri</vt:lpstr>
      <vt:lpstr>Georgia Bold</vt:lpstr>
      <vt:lpstr>Poppins Light</vt:lpstr>
      <vt:lpstr>Proxima Nova Bold</vt:lpstr>
      <vt:lpstr>Georgia</vt:lpstr>
      <vt:lpstr>Open Sans</vt:lpstr>
      <vt:lpstr>Arial</vt:lpstr>
      <vt:lpstr>Bebas Neue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 Application</dc:title>
  <cp:lastModifiedBy>LUIS IGNACIO NUÑEZ CASAL</cp:lastModifiedBy>
  <cp:revision>2</cp:revision>
  <dcterms:created xsi:type="dcterms:W3CDTF">2006-08-16T00:00:00Z</dcterms:created>
  <dcterms:modified xsi:type="dcterms:W3CDTF">2026-06-05T19:59:15Z</dcterms:modified>
  <dc:identifier>DAHLgL_th2c</dc:identifier>
</cp:coreProperties>
</file>